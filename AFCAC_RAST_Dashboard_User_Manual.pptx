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AE41"/>
    <a:srgbClr val="145847"/>
    <a:srgbClr val="ABB616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4653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8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B3AE41"/>
          </a:solidFill>
          <a:ln/>
        </p:spPr>
        <p:txBody>
          <a:bodyPr/>
          <a:lstStyle/>
          <a:p>
            <a:endParaRPr lang="fr-029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3AE41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B3AE41"/>
                </a:solidFill>
              </a:rPr>
              <a:t>✈</a:t>
            </a:r>
          </a:p>
        </p:txBody>
      </p:sp>
      <p:sp>
        <p:nvSpPr>
          <p:cNvPr id="5" name="Text 3"/>
          <p:cNvSpPr/>
          <p:nvPr/>
        </p:nvSpPr>
        <p:spPr>
          <a:xfrm>
            <a:off x="182880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3AE41"/>
                </a:solidFill>
              </a:rPr>
              <a:t>AFCAC</a:t>
            </a:r>
            <a:endParaRPr lang="en-US" sz="3600" dirty="0">
              <a:solidFill>
                <a:srgbClr val="B3AE4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828800" y="1280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Revised Abuja Safety Targets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</a:rPr>
              <a:t>Monitoring and Reporting Dashboard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828800" y="2468880"/>
            <a:ext cx="5486400" cy="45720"/>
          </a:xfrm>
          <a:prstGeom prst="rect">
            <a:avLst/>
          </a:prstGeom>
          <a:solidFill>
            <a:srgbClr val="B3AE41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1828800" y="26517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400" dirty="0">
                <a:solidFill>
                  <a:srgbClr val="B3AE41"/>
                </a:solidFill>
              </a:rPr>
              <a:t>USER MANUAL</a:t>
            </a:r>
            <a:endParaRPr lang="en-US" sz="2400" dirty="0">
              <a:solidFill>
                <a:srgbClr val="B3AE4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828800" y="3246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8888"/>
                </a:solidFill>
              </a:rPr>
              <a:t>Guide d'utilisation · Manual do Utilizador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6035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Version 1.0  ·  April 2026  ·  AFCAC Safety Unit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6035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1B3A2D"/>
                </a:solidFill>
              </a:rPr>
              <a:t>CONFIDENTIAL — For authorized users only</a:t>
            </a:r>
            <a:endParaRPr lang="en-US" sz="900" dirty="0"/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7A58152A-4457-125A-EBAE-476D9769922C}"/>
              </a:ext>
            </a:extLst>
          </p:cNvPr>
          <p:cNvSpPr/>
          <p:nvPr/>
        </p:nvSpPr>
        <p:spPr>
          <a:xfrm>
            <a:off x="2099760" y="4572000"/>
            <a:ext cx="502920" cy="640080"/>
          </a:xfrm>
          <a:prstGeom prst="rect">
            <a:avLst/>
          </a:prstGeom>
          <a:solidFill>
            <a:srgbClr val="B3AE41"/>
          </a:solidFill>
          <a:ln w="12700">
            <a:solidFill>
              <a:srgbClr val="B3AE4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B7E7A4E4-827A-5E72-9A3F-0935136D2A7E}"/>
              </a:ext>
            </a:extLst>
          </p:cNvPr>
          <p:cNvSpPr/>
          <p:nvPr/>
        </p:nvSpPr>
        <p:spPr>
          <a:xfrm>
            <a:off x="4080060" y="4485127"/>
            <a:ext cx="5760720" cy="909833"/>
          </a:xfrm>
          <a:prstGeom prst="rect">
            <a:avLst/>
          </a:prstGeom>
          <a:solidFill>
            <a:srgbClr val="145847"/>
          </a:solidFill>
          <a:ln w="12700">
            <a:solidFill>
              <a:srgbClr val="1458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5CC0273-59F7-F0D1-49C9-5DB0EFF785C1}"/>
              </a:ext>
            </a:extLst>
          </p:cNvPr>
          <p:cNvGrpSpPr/>
          <p:nvPr/>
        </p:nvGrpSpPr>
        <p:grpSpPr>
          <a:xfrm>
            <a:off x="164592" y="-6483"/>
            <a:ext cx="12027408" cy="191243"/>
            <a:chOff x="164592" y="-6483"/>
            <a:chExt cx="12027408" cy="191243"/>
          </a:xfrm>
        </p:grpSpPr>
        <p:pic>
          <p:nvPicPr>
            <p:cNvPr id="15" name="Image 39">
              <a:extLst>
                <a:ext uri="{FF2B5EF4-FFF2-40B4-BE49-F238E27FC236}">
                  <a16:creationId xmlns:a16="http://schemas.microsoft.com/office/drawing/2014/main" id="{5DBBA1D9-A5AD-317A-617D-9C35F4EAB3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98"/>
            <a:stretch/>
          </p:blipFill>
          <p:spPr bwMode="auto">
            <a:xfrm rot="16200000" flipH="1">
              <a:off x="3256840" y="-3092248"/>
              <a:ext cx="184760" cy="636925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" name="Image 39">
              <a:extLst>
                <a:ext uri="{FF2B5EF4-FFF2-40B4-BE49-F238E27FC236}">
                  <a16:creationId xmlns:a16="http://schemas.microsoft.com/office/drawing/2014/main" id="{1D2C27F5-D017-3F28-CA26-EA3ED4E0DED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98"/>
            <a:stretch/>
          </p:blipFill>
          <p:spPr bwMode="auto">
            <a:xfrm rot="16200000" flipH="1">
              <a:off x="8914992" y="-3098731"/>
              <a:ext cx="184760" cy="636925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Table of Contents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User Manual — Revised Abuja Safety Targets Dashboard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 dirty="0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716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11" name="Text 9"/>
          <p:cNvSpPr/>
          <p:nvPr/>
        </p:nvSpPr>
        <p:spPr>
          <a:xfrm>
            <a:off x="457200" y="14447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024128" y="15087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3" name="Text 11"/>
          <p:cNvSpPr/>
          <p:nvPr/>
        </p:nvSpPr>
        <p:spPr>
          <a:xfrm>
            <a:off x="1143000" y="14264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Introduction &amp; Overview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17190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Application purpose, access URL, supported browsers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2860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16" name="Text 14"/>
          <p:cNvSpPr/>
          <p:nvPr/>
        </p:nvSpPr>
        <p:spPr>
          <a:xfrm>
            <a:off x="457200" y="23591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24128" y="24231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1143000" y="23408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Accessing the Application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26334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Login, roles, language selection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32004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21" name="Text 19"/>
          <p:cNvSpPr/>
          <p:nvPr/>
        </p:nvSpPr>
        <p:spPr>
          <a:xfrm>
            <a:off x="457200" y="32735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03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24128" y="33375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Text 21"/>
          <p:cNvSpPr/>
          <p:nvPr/>
        </p:nvSpPr>
        <p:spPr>
          <a:xfrm>
            <a:off x="1143000" y="32552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Dashboard — Main Page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KPIs, Status charts, Africa map, Action table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41148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26" name="Text 24"/>
          <p:cNvSpPr/>
          <p:nvPr/>
        </p:nvSpPr>
        <p:spPr>
          <a:xfrm>
            <a:off x="457200" y="41879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04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1024128" y="42519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8" name="Text 26"/>
          <p:cNvSpPr/>
          <p:nvPr/>
        </p:nvSpPr>
        <p:spPr>
          <a:xfrm>
            <a:off x="1143000" y="41696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Admin Panel — Targets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43000" y="44622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Updating safety target progress, deadlines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50292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31" name="Text 29"/>
          <p:cNvSpPr/>
          <p:nvPr/>
        </p:nvSpPr>
        <p:spPr>
          <a:xfrm>
            <a:off x="457200" y="51023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05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024128" y="51663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3" name="Text 31"/>
          <p:cNvSpPr/>
          <p:nvPr/>
        </p:nvSpPr>
        <p:spPr>
          <a:xfrm>
            <a:off x="1143000" y="50840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Admin Panel — Actions &amp; Countries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43000" y="53766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Managing action plans and country data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13716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36" name="Text 34"/>
          <p:cNvSpPr/>
          <p:nvPr/>
        </p:nvSpPr>
        <p:spPr>
          <a:xfrm>
            <a:off x="6309360" y="14447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06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6876288" y="15087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8" name="Text 36"/>
          <p:cNvSpPr/>
          <p:nvPr/>
        </p:nvSpPr>
        <p:spPr>
          <a:xfrm>
            <a:off x="6995160" y="14264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Admin Panel — Users &amp; Sessions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95160" y="17190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User accounts, active sessions monitoring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22860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41" name="Text 39"/>
          <p:cNvSpPr/>
          <p:nvPr/>
        </p:nvSpPr>
        <p:spPr>
          <a:xfrm>
            <a:off x="6309360" y="23591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07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6876288" y="24231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3" name="Text 41"/>
          <p:cNvSpPr/>
          <p:nvPr/>
        </p:nvSpPr>
        <p:spPr>
          <a:xfrm>
            <a:off x="6995160" y="23408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Questionnaire Forms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995160" y="26334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Completing and submitting safety questionnaires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217920" y="32004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46" name="Text 44"/>
          <p:cNvSpPr/>
          <p:nvPr/>
        </p:nvSpPr>
        <p:spPr>
          <a:xfrm>
            <a:off x="6309360" y="32735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08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6876288" y="33375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8" name="Text 46"/>
          <p:cNvSpPr/>
          <p:nvPr/>
        </p:nvSpPr>
        <p:spPr>
          <a:xfrm>
            <a:off x="6995160" y="32552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Multilingual Support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995160" y="35478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Switching between English, French, Portuguese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217920" y="41148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51" name="Text 49"/>
          <p:cNvSpPr/>
          <p:nvPr/>
        </p:nvSpPr>
        <p:spPr>
          <a:xfrm>
            <a:off x="6309360" y="41879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09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6876288" y="42519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53" name="Text 51"/>
          <p:cNvSpPr/>
          <p:nvPr/>
        </p:nvSpPr>
        <p:spPr>
          <a:xfrm>
            <a:off x="6995160" y="41696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Export &amp; Reports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995160" y="44622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Downloading Excel and PDF reports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17920" y="50292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56" name="Text 54"/>
          <p:cNvSpPr/>
          <p:nvPr/>
        </p:nvSpPr>
        <p:spPr>
          <a:xfrm>
            <a:off x="6309360" y="51023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10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6876288" y="51663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58" name="Text 56"/>
          <p:cNvSpPr/>
          <p:nvPr/>
        </p:nvSpPr>
        <p:spPr>
          <a:xfrm>
            <a:off x="6995160" y="50840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Troubleshooting &amp; Support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995160" y="53766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Common issues and contact information</a:t>
            </a:r>
            <a:endParaRPr lang="en-US" sz="900" dirty="0"/>
          </a:p>
        </p:txBody>
      </p:sp>
      <p:pic>
        <p:nvPicPr>
          <p:cNvPr id="61" name="Image 39">
            <a:extLst>
              <a:ext uri="{FF2B5EF4-FFF2-40B4-BE49-F238E27FC236}">
                <a16:creationId xmlns:a16="http://schemas.microsoft.com/office/drawing/2014/main" id="{53DE72C1-4DD3-8699-7351-780D07812EA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8"/>
          <a:stretch/>
        </p:blipFill>
        <p:spPr bwMode="auto">
          <a:xfrm rot="16200000" flipH="1">
            <a:off x="3083618" y="-3082954"/>
            <a:ext cx="184760" cy="636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Image 39">
            <a:extLst>
              <a:ext uri="{FF2B5EF4-FFF2-40B4-BE49-F238E27FC236}">
                <a16:creationId xmlns:a16="http://schemas.microsoft.com/office/drawing/2014/main" id="{142A31A2-416C-E1B6-66C1-4CA95737D32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8"/>
          <a:stretch/>
        </p:blipFill>
        <p:spPr bwMode="auto">
          <a:xfrm rot="16200000" flipH="1">
            <a:off x="8914300" y="-3080811"/>
            <a:ext cx="184760" cy="63692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— Introduction &amp; Overview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8" name="Text 6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2D"/>
                </a:solidFill>
              </a:rPr>
              <a:t>What is this application?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1719072"/>
            <a:ext cx="11338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The Revised Abuja Safety Targets (RAST) Dashboard is the official AFCAC platform for monitoring and reporting on the 39 aviation safety targets across 54 African member states. It provides real-time visibility into progress, enables national focal points to submit data, and supports decision-making for AFCAC's Safety Unit.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651760"/>
            <a:ext cx="3657600" cy="18288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Shape 10"/>
          <p:cNvSpPr/>
          <p:nvPr/>
        </p:nvSpPr>
        <p:spPr>
          <a:xfrm>
            <a:off x="365760" y="265176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3" name="Text 11"/>
          <p:cNvSpPr/>
          <p:nvPr/>
        </p:nvSpPr>
        <p:spPr>
          <a:xfrm>
            <a:off x="502920" y="27432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3246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Real-time Monitoring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566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Live KPIs, status charts, and geographic map updated by national focal points.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2651760"/>
            <a:ext cx="3657600" cy="18288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7" name="Shape 15"/>
          <p:cNvSpPr/>
          <p:nvPr/>
        </p:nvSpPr>
        <p:spPr>
          <a:xfrm>
            <a:off x="4297680" y="265176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4434840" y="27432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🔐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434840" y="3246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Secure Admin Access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34840" y="3566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Role-based access for AFCAC admins and country focal points with JWT authentication.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0" y="2651760"/>
            <a:ext cx="3657600" cy="18288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2" name="Shape 20"/>
          <p:cNvSpPr/>
          <p:nvPr/>
        </p:nvSpPr>
        <p:spPr>
          <a:xfrm>
            <a:off x="8229600" y="265176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Text 21"/>
          <p:cNvSpPr/>
          <p:nvPr/>
        </p:nvSpPr>
        <p:spPr>
          <a:xfrm>
            <a:off x="8366760" y="27432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366760" y="3246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Multilingual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66760" y="3566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Full support for English, French, and Portuguese — all content adapts to the selected language.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65760" y="4709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🌐  Production URL: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5029200"/>
            <a:ext cx="1133856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8" name="Text 26"/>
          <p:cNvSpPr/>
          <p:nvPr/>
        </p:nvSpPr>
        <p:spPr>
          <a:xfrm>
            <a:off x="548640" y="5056632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84C"/>
                </a:solidFill>
              </a:rPr>
              <a:t>https://afcac-dashboard.vercel.app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5760" y="55778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Supported browsers: Chrome · Firefox · Edge · Safari  (latest versions)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02 — Accessing the Application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Login · Roles · Language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4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280160"/>
            <a:ext cx="530352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Text 9"/>
          <p:cNvSpPr/>
          <p:nvPr/>
        </p:nvSpPr>
        <p:spPr>
          <a:xfrm>
            <a:off x="502920" y="13441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 Login Procedure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1.  Open https://afcac-dashboard.vercel.app in your browser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22199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2.  Click the "🔐 Sign In" button at the top-right of the dashboard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266090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3.  Enter your Username (provided by AFCAC Safety Unit)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3099816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4.  Enter your Password and click "Submit"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53872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5.  You will be redirected to your authorized section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0" y="1280160"/>
            <a:ext cx="585216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6080760" y="134416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👥  User Roles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0" y="1783080"/>
            <a:ext cx="5852160" cy="100584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0" name="Shape 18"/>
          <p:cNvSpPr/>
          <p:nvPr/>
        </p:nvSpPr>
        <p:spPr>
          <a:xfrm>
            <a:off x="5943600" y="1783080"/>
            <a:ext cx="109728" cy="100584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1" name="Text 19"/>
          <p:cNvSpPr/>
          <p:nvPr/>
        </p:nvSpPr>
        <p:spPr>
          <a:xfrm>
            <a:off x="6144768" y="18288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AFCAC Admin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44768" y="21488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Full access: KPIs, Targets, Actions, Countries, Users, Sessions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43600" y="2971800"/>
            <a:ext cx="5852160" cy="100584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Shape 22"/>
          <p:cNvSpPr/>
          <p:nvPr/>
        </p:nvSpPr>
        <p:spPr>
          <a:xfrm>
            <a:off x="5943600" y="2971800"/>
            <a:ext cx="109728" cy="10058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Country Focal Point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144768" y="33375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Access to Targets tab only — update progress for assigned country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43600" y="4206240"/>
            <a:ext cx="585216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8" name="Text 26"/>
          <p:cNvSpPr/>
          <p:nvPr/>
        </p:nvSpPr>
        <p:spPr>
          <a:xfrm>
            <a:off x="6080760" y="427024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🌐  Language Selection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0" y="4617720"/>
            <a:ext cx="5852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Use the language switcher in the top-right menu of any page. Select from: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  🇬🇧  English (EN)   ·   🇫🇷  Français (FR)   ·   🇵🇹  Português (PT)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entire interface — menus, labels, form options, and instructions — will immediately switch to the selected language. Your preference is saved in a cookie and persists across sessions.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65760" y="4206240"/>
            <a:ext cx="5303520" cy="384048"/>
          </a:xfrm>
          <a:prstGeom prst="rect">
            <a:avLst/>
          </a:prstGeom>
          <a:solidFill>
            <a:srgbClr val="B3AE41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1" name="Text 29"/>
          <p:cNvSpPr/>
          <p:nvPr/>
        </p:nvSpPr>
        <p:spPr>
          <a:xfrm>
            <a:off x="502920" y="424281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⚠  Important Notes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645152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Do not share your credentials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Sessions expire after inactivity — log in again if prompted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Contact AFCAC Safety Unit to reset your password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— Dashboard — Main Page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Public overview — no login required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2588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Text 10"/>
          <p:cNvSpPr/>
          <p:nvPr/>
        </p:nvSpPr>
        <p:spPr>
          <a:xfrm>
            <a:off x="50292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📊  Executive Summary (KPIs)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73736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Top banner showing: Total Countries, Total Actions, % Completed, % In Progress, Average Duration, Experts Planned. These values are updated by AFCAC admins.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6" name="Text 14"/>
          <p:cNvSpPr/>
          <p:nvPr/>
        </p:nvSpPr>
        <p:spPr>
          <a:xfrm>
            <a:off x="502920" y="26974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📈  Status Distribution Bar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1752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A horizontal bar chart showing the continental distribution of action statuses: Completed, In Progress, Delayed, On Hold, Not Started. Click "About this indicator" for details.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88620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0" name="Text 18"/>
          <p:cNvSpPr/>
          <p:nvPr/>
        </p:nvSpPr>
        <p:spPr>
          <a:xfrm>
            <a:off x="502920" y="39776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🌍  Africa Status Map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An interactive map of Africa where each country is color-coded by overall status. Hover over a country to see its name, number of targets, and current status.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09360" y="132588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Shape 21"/>
          <p:cNvSpPr/>
          <p:nvPr/>
        </p:nvSpPr>
        <p:spPr>
          <a:xfrm>
            <a:off x="6309360" y="132588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Text 22"/>
          <p:cNvSpPr/>
          <p:nvPr/>
        </p:nvSpPr>
        <p:spPr>
          <a:xfrm>
            <a:off x="644652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📋  Action Plan Detail Table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46520" y="173736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A filterable table listing all actions with columns: Country, Target ID, Section, Status, Start, End, Progress. Use the filter bar to search by country or status.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09360" y="260604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7" name="Shape 25"/>
          <p:cNvSpPr/>
          <p:nvPr/>
        </p:nvSpPr>
        <p:spPr>
          <a:xfrm>
            <a:off x="6309360" y="260604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8" name="Text 26"/>
          <p:cNvSpPr/>
          <p:nvPr/>
        </p:nvSpPr>
        <p:spPr>
          <a:xfrm>
            <a:off x="6446520" y="26974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🎯  Target Achievement Grid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46520" y="301752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A grid of all 15 Abuja Safety Targets showing the continental average score for each. Color-coded from red (0%) to green (100%).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388620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1" name="Shape 29"/>
          <p:cNvSpPr/>
          <p:nvPr/>
        </p:nvSpPr>
        <p:spPr>
          <a:xfrm>
            <a:off x="6309360" y="388620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2" name="Text 30"/>
          <p:cNvSpPr/>
          <p:nvPr/>
        </p:nvSpPr>
        <p:spPr>
          <a:xfrm>
            <a:off x="6446520" y="39776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⬇  Export Buttons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46520" y="429768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Download the full dashboard data as Excel (.xlsx) or PDF. The export includes all visible data at the time of download.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04 — Admin Panel: Targets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Updating safety target progress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6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13258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2D"/>
                </a:solidFill>
              </a:rPr>
              <a:t>How to update a safety target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783080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Text 10"/>
          <p:cNvSpPr/>
          <p:nvPr/>
        </p:nvSpPr>
        <p:spPr>
          <a:xfrm>
            <a:off x="365760" y="18288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1819656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Log in and click "⚙ Admin" in the header to access the admin panel.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359152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5" name="Text 13"/>
          <p:cNvSpPr/>
          <p:nvPr/>
        </p:nvSpPr>
        <p:spPr>
          <a:xfrm>
            <a:off x="365760" y="240487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239572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Click the "🎯 Safety Targets" tab in the left navigation sidebar.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935224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365760" y="2980944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2971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Fill in your name in "Full Name" and select your country in "Country Represented".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511296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1" name="Text 19"/>
          <p:cNvSpPr/>
          <p:nvPr/>
        </p:nvSpPr>
        <p:spPr>
          <a:xfrm>
            <a:off x="365760" y="355701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354787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Scroll to the target you want to update (grouped by safety category).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87368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Text 22"/>
          <p:cNvSpPr/>
          <p:nvPr/>
        </p:nvSpPr>
        <p:spPr>
          <a:xfrm>
            <a:off x="365760" y="4133088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12394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Use the dropdown to select the progress level (0% to 100%).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663440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7" name="Text 25"/>
          <p:cNvSpPr/>
          <p:nvPr/>
        </p:nvSpPr>
        <p:spPr>
          <a:xfrm>
            <a:off x="365760" y="47091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4700016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Optionally update the "Deadline" field for the target.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5239512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0" name="Text 28"/>
          <p:cNvSpPr/>
          <p:nvPr/>
        </p:nvSpPr>
        <p:spPr>
          <a:xfrm>
            <a:off x="365760" y="528523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" y="527608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When finished, click "💾 Save Changes" at the bottom of the page.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5715000"/>
            <a:ext cx="11430000" cy="347472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3" name="Text 31"/>
          <p:cNvSpPr/>
          <p:nvPr/>
        </p:nvSpPr>
        <p:spPr>
          <a:xfrm>
            <a:off x="502920" y="577900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📊  Progress Levels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6080760"/>
            <a:ext cx="2103120" cy="274320"/>
          </a:xfrm>
          <a:prstGeom prst="rect">
            <a:avLst/>
          </a:prstGeom>
          <a:solidFill>
            <a:srgbClr val="95A5A6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5" name="Text 33"/>
          <p:cNvSpPr/>
          <p:nvPr/>
        </p:nvSpPr>
        <p:spPr>
          <a:xfrm>
            <a:off x="457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0% — Not Started / Not Applicable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743200" y="6080760"/>
            <a:ext cx="2103120" cy="274320"/>
          </a:xfrm>
          <a:prstGeom prst="rect">
            <a:avLst/>
          </a:prstGeom>
          <a:solidFill>
            <a:srgbClr val="E07B39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7" name="Text 35"/>
          <p:cNvSpPr/>
          <p:nvPr/>
        </p:nvSpPr>
        <p:spPr>
          <a:xfrm>
            <a:off x="2743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25% — Partially Initiated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029200" y="6080760"/>
            <a:ext cx="2103120" cy="274320"/>
          </a:xfrm>
          <a:prstGeom prst="rect">
            <a:avLst/>
          </a:prstGeom>
          <a:solidFill>
            <a:srgbClr val="F0A500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9" name="Text 37"/>
          <p:cNvSpPr/>
          <p:nvPr/>
        </p:nvSpPr>
        <p:spPr>
          <a:xfrm>
            <a:off x="5029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50% — In Progress / Partially Achieved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315200" y="6080760"/>
            <a:ext cx="2103120" cy="27432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1" name="Text 39"/>
          <p:cNvSpPr/>
          <p:nvPr/>
        </p:nvSpPr>
        <p:spPr>
          <a:xfrm>
            <a:off x="7315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75% — Advanced / On Track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9601200" y="6080760"/>
            <a:ext cx="2103120" cy="274320"/>
          </a:xfrm>
          <a:prstGeom prst="rect">
            <a:avLst/>
          </a:prstGeom>
          <a:solidFill>
            <a:srgbClr val="2D9D5E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3" name="Text 41"/>
          <p:cNvSpPr/>
          <p:nvPr/>
        </p:nvSpPr>
        <p:spPr>
          <a:xfrm>
            <a:off x="9601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100% — Fully Achieved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— Admin Panel: Actions &amp; Countries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8" name="Text 6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280160"/>
            <a:ext cx="566928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0" name="Text 8"/>
          <p:cNvSpPr/>
          <p:nvPr/>
        </p:nvSpPr>
        <p:spPr>
          <a:xfrm>
            <a:off x="502920" y="134416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📋  Actions Tab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737360"/>
            <a:ext cx="5669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Actions tab lists all action plans for every country. You can: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Change the Status of any action (Completed, In Progress, Delayed, On Hold, Not Started)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Update the Start and End dates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Add or edit the Responsible person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Track progress percentage per action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All changes are saved when you click "💾 Save Changes" at the bottom.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557784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3" name="Text 11"/>
          <p:cNvSpPr/>
          <p:nvPr/>
        </p:nvSpPr>
        <p:spPr>
          <a:xfrm>
            <a:off x="6355080" y="1344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🌍  Countries Tab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737360"/>
            <a:ext cx="5577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Countries tab allows updating aggregated country-level data: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Total number of actions per country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Budget information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Breakdown of statuses (Completed / In Progress / Delayed / On Hold / Not Started)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This data feeds the Country Breakdown table and the Africa Map on the main dashboard.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4069080"/>
            <a:ext cx="566928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6" name="Text 14"/>
          <p:cNvSpPr/>
          <p:nvPr/>
        </p:nvSpPr>
        <p:spPr>
          <a:xfrm>
            <a:off x="502920" y="413308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📊  KPIs Tab (Admin only)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4526280"/>
            <a:ext cx="5669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KPIs tab controls the headline figures shown in the Executive Summary: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Total Countries · Total Actions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% Completed · % In Progress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Average Duration (weeks)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Experts Planned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Trend labels for each indicator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4069080"/>
            <a:ext cx="5577840" cy="384048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9" name="Text 17"/>
          <p:cNvSpPr/>
          <p:nvPr/>
        </p:nvSpPr>
        <p:spPr>
          <a:xfrm>
            <a:off x="6355080" y="413308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⚠  Important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452628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Always fill in your identity (Full Name + Country) before saving. All updates are timestamped and attributed to the person who submitted them. The dashboard refreshes automatically after a successful save.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06 — Admin Panel: Users &amp; Sessions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For AFCAC Administrators only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280160"/>
            <a:ext cx="566928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Text 9"/>
          <p:cNvSpPr/>
          <p:nvPr/>
        </p:nvSpPr>
        <p:spPr>
          <a:xfrm>
            <a:off x="502920" y="134416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 Users Tab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1737360"/>
            <a:ext cx="5669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Users tab lists all 54 country focal points (one per AFCAC member state). For each user you can see: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Username and assigned country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Role (focal_point or admin)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Account status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This tab is visible only to AFCAC Admin accounts.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280160"/>
            <a:ext cx="557784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4" name="Text 12"/>
          <p:cNvSpPr/>
          <p:nvPr/>
        </p:nvSpPr>
        <p:spPr>
          <a:xfrm>
            <a:off x="6355080" y="1344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🟢  Sessions Tab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737360"/>
            <a:ext cx="5577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Sessions tab provides real-time visibility of all currently connected users: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Username and country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Login time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IP address and approximate location (country/city)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Session duration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list refreshes automatically every 30 seconds. This allows AFCAC staff to monitor who is actively using the platform.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4297680"/>
            <a:ext cx="11430000" cy="164592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7" name="Shape 15"/>
          <p:cNvSpPr/>
          <p:nvPr/>
        </p:nvSpPr>
        <p:spPr>
          <a:xfrm>
            <a:off x="365760" y="4297680"/>
            <a:ext cx="11430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502920" y="437083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🔒  Security Best Practices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70916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Never share your admin credentials with anyone, including country focal points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If you notice a suspicious session (unknown IP or country), contact the system administrator immediately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Admin accounts should log out after each session — use the "⏻ Log Out" button in the header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07 — Questionnaire Forms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State Safety Self-Assessment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9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The questionnaire allows each country's focal point to assess their state's level of implementation for each safety target.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1783080"/>
            <a:ext cx="530352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Text 10"/>
          <p:cNvSpPr/>
          <p:nvPr/>
        </p:nvSpPr>
        <p:spPr>
          <a:xfrm>
            <a:off x="502920" y="184708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🔗  How to Access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19456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Form 1: https://afcac-dashboard.vercel.app/formulaire-1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Form 2: https://afcac-dashboard.vercel.app/formulaire-2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Or navigate from the main dashboard header menu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0" y="1783080"/>
            <a:ext cx="59436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5" name="Text 13"/>
          <p:cNvSpPr/>
          <p:nvPr/>
        </p:nvSpPr>
        <p:spPr>
          <a:xfrm>
            <a:off x="5989320" y="1847088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📝  How to Complete a Form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52160" y="2194560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1. Select your State / Country from the left panel dropdown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52160" y="2587752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2. For each question, read the statement carefully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52160" y="2980944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3. Select the option (a to e) that best describes your current level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52160" y="3374136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4. Optionally add a comment or observation for context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52160" y="376732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5. Track progress in the header completion bar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52160" y="4160520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6. Click "📋 Summary" to review all answers before submitting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52160" y="4553712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7. Click "✔ Submit to Dashboard" to send your responses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246120"/>
            <a:ext cx="530352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Text 22"/>
          <p:cNvSpPr/>
          <p:nvPr/>
        </p:nvSpPr>
        <p:spPr>
          <a:xfrm>
            <a:off x="502920" y="33101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📊  Score Levels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3657600"/>
            <a:ext cx="530352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Each question has 5 options scored 0% to 100%: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a) 0% — Not Started / Not Applicable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b) 25% — Partially Initiated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c) 50% — In Progress / Partially Achieved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d) 75% — Advanced / On Track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e) 100% — Fully Achieved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08 — Multilingual Support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English · Français · Português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10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25880"/>
            <a:ext cx="3657600" cy="22860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Text 10"/>
          <p:cNvSpPr/>
          <p:nvPr/>
        </p:nvSpPr>
        <p:spPr>
          <a:xfrm>
            <a:off x="502920" y="14173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00000"/>
                </a:solidFill>
              </a:rPr>
              <a:t>🇬🇧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234440" y="1463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84C"/>
                </a:solidFill>
              </a:rPr>
              <a:t>EN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02920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2D"/>
                </a:solidFill>
              </a:rPr>
              <a:t>English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2423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Default language. All base content is in English.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1325880"/>
            <a:ext cx="3657600" cy="22860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7" name="Shape 15"/>
          <p:cNvSpPr/>
          <p:nvPr/>
        </p:nvSpPr>
        <p:spPr>
          <a:xfrm>
            <a:off x="4297680" y="132588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4434840" y="14173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00000"/>
                </a:solidFill>
              </a:rPr>
              <a:t>🇫🇷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5166360" y="1463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84C"/>
                </a:solidFill>
              </a:rPr>
              <a:t>FR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434840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2D"/>
                </a:solidFill>
              </a:rPr>
              <a:t>Français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34840" y="2423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Full French translation of all interface elements, menus, and form options.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0" y="1325880"/>
            <a:ext cx="3657600" cy="22860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Shape 21"/>
          <p:cNvSpPr/>
          <p:nvPr/>
        </p:nvSpPr>
        <p:spPr>
          <a:xfrm>
            <a:off x="8229600" y="132588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Text 22"/>
          <p:cNvSpPr/>
          <p:nvPr/>
        </p:nvSpPr>
        <p:spPr>
          <a:xfrm>
            <a:off x="8366760" y="14173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00000"/>
                </a:solidFill>
              </a:rPr>
              <a:t>🇵🇹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9098280" y="1463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84C"/>
                </a:solidFill>
              </a:rPr>
              <a:t>PT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366760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2D"/>
                </a:solidFill>
              </a:rPr>
              <a:t>Português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2423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Full Portuguese translation for Lusophone member states.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9" name="Text 27"/>
          <p:cNvSpPr/>
          <p:nvPr/>
        </p:nvSpPr>
        <p:spPr>
          <a:xfrm>
            <a:off x="502920" y="385876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🔄  What gets translated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251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Dashboard labels &amp; KPIs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297680" y="4251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Navigation menus &amp; tabs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138160" y="4251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Admin panel titles &amp; intro texts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463600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Score option labels (a–e)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297680" y="463600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Score descriptions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38160" y="463600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Questionnaire questions &amp; options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502005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Form placeholders &amp; buttons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02005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Login page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138160" y="502005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Export labels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540410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Error &amp; success messages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297680" y="540410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Declarant identity section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138160" y="540410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</a:rPr>
              <a:t>—  Country names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65760" y="621792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💡  Language preference is saved in a browser cookie — no need to re-select on each visit.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09 — Export &amp; Reports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8" name="Text 6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11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325880"/>
            <a:ext cx="557784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0" name="Text 8"/>
          <p:cNvSpPr/>
          <p:nvPr/>
        </p:nvSpPr>
        <p:spPr>
          <a:xfrm>
            <a:off x="502920" y="138988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📥  Dashboard Exports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783080"/>
            <a:ext cx="5577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From the main dashboard, use the Export Buttons section to download data: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⬇  Download Excel (.xlsx)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Exports the full action plan table with all columns: Country, Target ID, Section, Status, Start, End, Progress, Responsible.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⬇  Download PDF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Generates a formatted PDF snapshot of the current dashboard view including KPIs, status charts, and action table.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325880"/>
            <a:ext cx="566928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3" name="Text 11"/>
          <p:cNvSpPr/>
          <p:nvPr/>
        </p:nvSpPr>
        <p:spPr>
          <a:xfrm>
            <a:off x="6263640" y="138988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📋  Questionnaire Exports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26480" y="1783080"/>
            <a:ext cx="56692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From the questionnaire form, after completing your answers: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⬇  Export JSON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Downloads a structured JSON file with all answers, scores, comments, state name, and submission timestamp.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⬇  Export CSV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Downloads a CSV file compatible with Excel with columns: Target ID, Title, Group, Score (%), Label, Comments.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✔  Submit to Dashboard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Sends your responses directly to the live dashboard and updates the continental statistics.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11430000" cy="1417320"/>
          </a:xfrm>
          <a:prstGeom prst="rect">
            <a:avLst/>
          </a:prstGeom>
          <a:solidFill>
            <a:srgbClr val="F5E6C0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91440" cy="141732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7" name="Text 15"/>
          <p:cNvSpPr/>
          <p:nvPr/>
        </p:nvSpPr>
        <p:spPr>
          <a:xfrm>
            <a:off x="548640" y="4727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💡  Tips for reporting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5047488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• Export Excel after each quarterly update to keep a local backup of the dashboard state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• The JSON export from questionnaires can be archived as official documentation of each country's self-assessment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• PDF exports capture the dashboard exactly as displayed — switch language before exporting to get reports in your preferred language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— Troubleshooting &amp; Support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8" name="Text 6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32588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0" name="Shape 8"/>
          <p:cNvSpPr/>
          <p:nvPr/>
        </p:nvSpPr>
        <p:spPr>
          <a:xfrm>
            <a:off x="365760" y="132588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Text 9"/>
          <p:cNvSpPr/>
          <p:nvPr/>
        </p:nvSpPr>
        <p:spPr>
          <a:xfrm>
            <a:off x="502920" y="14173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Cannot log 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173736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Check your username and password. Passwords are case-sensitive. If the problem persists, contact the AFCAC Safety Unit to reset your credentials.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32588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4" name="Shape 12"/>
          <p:cNvSpPr/>
          <p:nvPr/>
        </p:nvSpPr>
        <p:spPr>
          <a:xfrm>
            <a:off x="6217920" y="132588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5" name="Text 13"/>
          <p:cNvSpPr/>
          <p:nvPr/>
        </p:nvSpPr>
        <p:spPr>
          <a:xfrm>
            <a:off x="6355080" y="14173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Dashboard shows no data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55080" y="173736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The database connection may be temporarily unavailable. Wait a few seconds and refresh the page (F5). If the problem persists, contact support.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74320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Shape 16"/>
          <p:cNvSpPr/>
          <p:nvPr/>
        </p:nvSpPr>
        <p:spPr>
          <a:xfrm>
            <a:off x="365760" y="274320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9" name="Text 17"/>
          <p:cNvSpPr/>
          <p:nvPr/>
        </p:nvSpPr>
        <p:spPr>
          <a:xfrm>
            <a:off x="502920" y="283464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Language does not switch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315468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Clear your browser cookies and try again. Make sure you click the language button and wait for the page to re-render.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274320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2" name="Shape 20"/>
          <p:cNvSpPr/>
          <p:nvPr/>
        </p:nvSpPr>
        <p:spPr>
          <a:xfrm>
            <a:off x="6217920" y="274320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Text 21"/>
          <p:cNvSpPr/>
          <p:nvPr/>
        </p:nvSpPr>
        <p:spPr>
          <a:xfrm>
            <a:off x="6355080" y="283464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Save changes has no effect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55080" y="315468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Ensure you are connected to the internet. Check that you filled in both "Full Name" and "Country Represented" before saving.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416052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7" name="Text 25"/>
          <p:cNvSpPr/>
          <p:nvPr/>
        </p:nvSpPr>
        <p:spPr>
          <a:xfrm>
            <a:off x="502920" y="425196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Map does not display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" y="457200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Disable browser ad-blockers or try in an incognito window. The map requires JavaScript to be enabled.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17920" y="416052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0" name="Shape 28"/>
          <p:cNvSpPr/>
          <p:nvPr/>
        </p:nvSpPr>
        <p:spPr>
          <a:xfrm>
            <a:off x="6217920" y="416052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1" name="Text 29"/>
          <p:cNvSpPr/>
          <p:nvPr/>
        </p:nvSpPr>
        <p:spPr>
          <a:xfrm>
            <a:off x="6355080" y="425196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Export produces empty file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55080" y="457200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Ensure there is data loaded on the dashboard. Try refreshing the page first, then attempt the export again.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5623560"/>
            <a:ext cx="11430000" cy="5943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4" name="Text 32"/>
          <p:cNvSpPr/>
          <p:nvPr/>
        </p:nvSpPr>
        <p:spPr>
          <a:xfrm>
            <a:off x="457200" y="5742432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9A84C"/>
                </a:solidFill>
              </a:rPr>
              <a:t>📧  Technical Support  ·  AFCAC Safety Unit  ·  Email: safety@afcac.org  ·  Website: www.afcac.org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58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3AE41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6217920"/>
            <a:ext cx="12192000" cy="640080"/>
          </a:xfrm>
          <a:prstGeom prst="rect">
            <a:avLst/>
          </a:prstGeom>
          <a:solidFill>
            <a:srgbClr val="B3AE41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dirty="0">
                <a:solidFill>
                  <a:srgbClr val="B3AE41"/>
                </a:solidFill>
              </a:rPr>
              <a:t>✈</a:t>
            </a:r>
          </a:p>
        </p:txBody>
      </p:sp>
      <p:sp>
        <p:nvSpPr>
          <p:cNvPr id="5" name="Text 3"/>
          <p:cNvSpPr/>
          <p:nvPr/>
        </p:nvSpPr>
        <p:spPr>
          <a:xfrm>
            <a:off x="2286000" y="1097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B3AE41"/>
                </a:solidFill>
              </a:rPr>
              <a:t>AFCAC</a:t>
            </a:r>
            <a:endParaRPr lang="en-US" sz="4200" dirty="0">
              <a:solidFill>
                <a:srgbClr val="B3AE4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2286000" y="18288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African Civil Aviation Commission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286000" y="2240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</a:rPr>
              <a:t>Commission Africaine de l'Aviation Civile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0" y="2743200"/>
            <a:ext cx="7315200" cy="4572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286000" y="29260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Revised Abuja Safety Targets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Monitoring and Reporting Dashboard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860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A84C"/>
                </a:solidFill>
              </a:rPr>
              <a:t>🌐  https://afcac-dashboard.vercel.app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2910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2D"/>
                </a:solidFill>
              </a:rPr>
              <a:t>Version 1.0  ·  April 2026  ·  © AFCAC Safety Unit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0" y="62910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B3A2D"/>
                </a:solidFill>
              </a:rPr>
              <a:t>For authorized users only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2349</Words>
  <Application>Microsoft Office PowerPoint</Application>
  <PresentationFormat>Widescreen</PresentationFormat>
  <Paragraphs>309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Saibatou FALL</cp:lastModifiedBy>
  <cp:revision>6</cp:revision>
  <dcterms:created xsi:type="dcterms:W3CDTF">2026-04-21T21:03:21Z</dcterms:created>
  <dcterms:modified xsi:type="dcterms:W3CDTF">2026-04-22T01:03:51Z</dcterms:modified>
</cp:coreProperties>
</file>