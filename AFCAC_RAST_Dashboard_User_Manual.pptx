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AE41"/>
    <a:srgbClr val="145847"/>
    <a:srgbClr val="ABB616"/>
    <a:srgbClr val="CC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63" y="2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4653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58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B3AE41"/>
          </a:solidFill>
          <a:ln/>
        </p:spPr>
        <p:txBody>
          <a:bodyPr/>
          <a:lstStyle/>
          <a:p>
            <a:endParaRPr lang="fr-029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3AE41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B3AE41"/>
                </a:solidFill>
              </a:rPr>
              <a:t>✈</a:t>
            </a:r>
          </a:p>
        </p:txBody>
      </p:sp>
      <p:sp>
        <p:nvSpPr>
          <p:cNvPr id="5" name="Text 3"/>
          <p:cNvSpPr/>
          <p:nvPr/>
        </p:nvSpPr>
        <p:spPr>
          <a:xfrm>
            <a:off x="1828800" y="6400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B3AE41"/>
                </a:solidFill>
              </a:rPr>
              <a:t>AFCAC</a:t>
            </a:r>
            <a:endParaRPr lang="en-US" sz="3600" dirty="0">
              <a:solidFill>
                <a:srgbClr val="B3AE4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828800" y="12801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Revised Abuja Safety Targets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828800" y="18288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</a:rPr>
              <a:t>Monitoring and Reporting Dashboard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828800" y="2468880"/>
            <a:ext cx="5486400" cy="45720"/>
          </a:xfrm>
          <a:prstGeom prst="rect">
            <a:avLst/>
          </a:prstGeom>
          <a:solidFill>
            <a:srgbClr val="B3AE41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9" name="Text 7"/>
          <p:cNvSpPr/>
          <p:nvPr/>
        </p:nvSpPr>
        <p:spPr>
          <a:xfrm>
            <a:off x="1828800" y="26517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400" dirty="0">
                <a:solidFill>
                  <a:srgbClr val="B3AE41"/>
                </a:solidFill>
              </a:rPr>
              <a:t>USER MANUAL</a:t>
            </a:r>
            <a:endParaRPr lang="en-US" sz="2400" dirty="0">
              <a:solidFill>
                <a:srgbClr val="B3AE4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828800" y="3246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8888"/>
                </a:solidFill>
              </a:rPr>
              <a:t>Guide d'utilisation · Manual do Utilizador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035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2D"/>
                </a:solidFill>
              </a:rPr>
              <a:t>Version 1.0  ·  April 2026  ·  AFCAC Safety Unit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0" y="6035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1B3A2D"/>
                </a:solidFill>
              </a:rPr>
              <a:t>CONFIDENTIAL — For authorized users only</a:t>
            </a:r>
            <a:endParaRPr lang="en-US" sz="900" dirty="0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7A58152A-4457-125A-EBAE-476D9769922C}"/>
              </a:ext>
            </a:extLst>
          </p:cNvPr>
          <p:cNvSpPr/>
          <p:nvPr/>
        </p:nvSpPr>
        <p:spPr>
          <a:xfrm>
            <a:off x="2099760" y="4572000"/>
            <a:ext cx="502920" cy="640080"/>
          </a:xfrm>
          <a:prstGeom prst="rect">
            <a:avLst/>
          </a:prstGeom>
          <a:solidFill>
            <a:srgbClr val="B3AE41"/>
          </a:solidFill>
          <a:ln w="12700">
            <a:solidFill>
              <a:srgbClr val="B3AE4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B7E7A4E4-827A-5E72-9A3F-0935136D2A7E}"/>
              </a:ext>
            </a:extLst>
          </p:cNvPr>
          <p:cNvSpPr/>
          <p:nvPr/>
        </p:nvSpPr>
        <p:spPr>
          <a:xfrm>
            <a:off x="4080060" y="4485127"/>
            <a:ext cx="5760720" cy="909833"/>
          </a:xfrm>
          <a:prstGeom prst="rect">
            <a:avLst/>
          </a:prstGeom>
          <a:solidFill>
            <a:srgbClr val="145847"/>
          </a:solidFill>
          <a:ln w="12700">
            <a:solidFill>
              <a:srgbClr val="1458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5CC0273-59F7-F0D1-49C9-5DB0EFF785C1}"/>
              </a:ext>
            </a:extLst>
          </p:cNvPr>
          <p:cNvGrpSpPr/>
          <p:nvPr/>
        </p:nvGrpSpPr>
        <p:grpSpPr>
          <a:xfrm>
            <a:off x="164592" y="-6483"/>
            <a:ext cx="12027408" cy="191243"/>
            <a:chOff x="164592" y="-6483"/>
            <a:chExt cx="12027408" cy="191243"/>
          </a:xfrm>
        </p:grpSpPr>
        <p:pic>
          <p:nvPicPr>
            <p:cNvPr id="15" name="Image 39">
              <a:extLst>
                <a:ext uri="{FF2B5EF4-FFF2-40B4-BE49-F238E27FC236}">
                  <a16:creationId xmlns:a16="http://schemas.microsoft.com/office/drawing/2014/main" id="{5DBBA1D9-A5AD-317A-617D-9C35F4EAB3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98"/>
            <a:stretch/>
          </p:blipFill>
          <p:spPr bwMode="auto">
            <a:xfrm rot="16200000" flipH="1">
              <a:off x="3256840" y="-3092248"/>
              <a:ext cx="184760" cy="63692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Image 39">
              <a:extLst>
                <a:ext uri="{FF2B5EF4-FFF2-40B4-BE49-F238E27FC236}">
                  <a16:creationId xmlns:a16="http://schemas.microsoft.com/office/drawing/2014/main" id="{1D2C27F5-D017-3F28-CA26-EA3ED4E0DED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98"/>
            <a:stretch/>
          </p:blipFill>
          <p:spPr bwMode="auto">
            <a:xfrm rot="16200000" flipH="1">
              <a:off x="8914992" y="-3098731"/>
              <a:ext cx="184760" cy="636925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45847"/>
          </a:solidFill>
          <a:ln/>
        </p:spPr>
        <p:txBody>
          <a:bodyPr/>
          <a:lstStyle/>
          <a:p>
            <a:endParaRPr lang="fr-029" dirty="0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1219200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</a:rPr>
              <a:t>✈  AFCAC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Table of Contents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A84C"/>
                </a:solidFill>
              </a:rPr>
              <a:t>User Manual — Revised Abuja Safety Targets Dashboard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411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</a:rPr>
              <a:t>Revised Abuja Safety Targets Dashboard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45847"/>
          </a:solidFill>
          <a:ln/>
        </p:spPr>
        <p:txBody>
          <a:bodyPr/>
          <a:lstStyle/>
          <a:p>
            <a:endParaRPr lang="fr-029" dirty="0"/>
          </a:p>
        </p:txBody>
      </p:sp>
      <p:sp>
        <p:nvSpPr>
          <p:cNvPr id="9" name="Text 7"/>
          <p:cNvSpPr/>
          <p:nvPr/>
        </p:nvSpPr>
        <p:spPr>
          <a:xfrm>
            <a:off x="274320" y="651967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9A84C"/>
                </a:solidFill>
              </a:rPr>
              <a:t>AFCAC — Revised Abuja Safety Targets Monitoring and Reporting Dashboard  |  User Manual  |  Page 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1371600"/>
            <a:ext cx="5486400" cy="749808"/>
          </a:xfrm>
          <a:prstGeom prst="rect">
            <a:avLst/>
          </a:prstGeom>
          <a:solidFill>
            <a:srgbClr val="F4F4F4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029"/>
          </a:p>
        </p:txBody>
      </p:sp>
      <p:sp>
        <p:nvSpPr>
          <p:cNvPr id="11" name="Text 9"/>
          <p:cNvSpPr/>
          <p:nvPr/>
        </p:nvSpPr>
        <p:spPr>
          <a:xfrm>
            <a:off x="457200" y="14447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</a:rPr>
              <a:t>01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024128" y="1508760"/>
            <a:ext cx="27432" cy="4572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13" name="Text 11"/>
          <p:cNvSpPr/>
          <p:nvPr/>
        </p:nvSpPr>
        <p:spPr>
          <a:xfrm>
            <a:off x="1143000" y="142646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Introduction &amp; Overview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3000" y="171907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</a:rPr>
              <a:t>Application purpose, access URL, supported browsers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286000"/>
            <a:ext cx="5486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029"/>
          </a:p>
        </p:txBody>
      </p:sp>
      <p:sp>
        <p:nvSpPr>
          <p:cNvPr id="16" name="Text 14"/>
          <p:cNvSpPr/>
          <p:nvPr/>
        </p:nvSpPr>
        <p:spPr>
          <a:xfrm>
            <a:off x="457200" y="23591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</a:rPr>
              <a:t>02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024128" y="2423160"/>
            <a:ext cx="27432" cy="4572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18" name="Text 16"/>
          <p:cNvSpPr/>
          <p:nvPr/>
        </p:nvSpPr>
        <p:spPr>
          <a:xfrm>
            <a:off x="1143000" y="234086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Accessing the Application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3000" y="263347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</a:rPr>
              <a:t>Login, roles, language selection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200400"/>
            <a:ext cx="5486400" cy="749808"/>
          </a:xfrm>
          <a:prstGeom prst="rect">
            <a:avLst/>
          </a:prstGeom>
          <a:solidFill>
            <a:srgbClr val="F4F4F4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029"/>
          </a:p>
        </p:txBody>
      </p:sp>
      <p:sp>
        <p:nvSpPr>
          <p:cNvPr id="21" name="Text 19"/>
          <p:cNvSpPr/>
          <p:nvPr/>
        </p:nvSpPr>
        <p:spPr>
          <a:xfrm>
            <a:off x="457200" y="32735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</a:rPr>
              <a:t>03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024128" y="3337560"/>
            <a:ext cx="27432" cy="4572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23" name="Text 21"/>
          <p:cNvSpPr/>
          <p:nvPr/>
        </p:nvSpPr>
        <p:spPr>
          <a:xfrm>
            <a:off x="1143000" y="325526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Dashboard — Main Page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3000" y="354787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</a:rPr>
              <a:t>KPIs, Status charts, Africa map, Action table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4114800"/>
            <a:ext cx="5486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029"/>
          </a:p>
        </p:txBody>
      </p:sp>
      <p:sp>
        <p:nvSpPr>
          <p:cNvPr id="26" name="Text 24"/>
          <p:cNvSpPr/>
          <p:nvPr/>
        </p:nvSpPr>
        <p:spPr>
          <a:xfrm>
            <a:off x="457200" y="41879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</a:rPr>
              <a:t>04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024128" y="4251960"/>
            <a:ext cx="27432" cy="4572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28" name="Text 26"/>
          <p:cNvSpPr/>
          <p:nvPr/>
        </p:nvSpPr>
        <p:spPr>
          <a:xfrm>
            <a:off x="1143000" y="416966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Admin Panel — Targets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43000" y="446227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</a:rPr>
              <a:t>Updating safety target progress, deadlines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5029200"/>
            <a:ext cx="5486400" cy="749808"/>
          </a:xfrm>
          <a:prstGeom prst="rect">
            <a:avLst/>
          </a:prstGeom>
          <a:solidFill>
            <a:srgbClr val="F4F4F4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029"/>
          </a:p>
        </p:txBody>
      </p:sp>
      <p:sp>
        <p:nvSpPr>
          <p:cNvPr id="31" name="Text 29"/>
          <p:cNvSpPr/>
          <p:nvPr/>
        </p:nvSpPr>
        <p:spPr>
          <a:xfrm>
            <a:off x="457200" y="51023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</a:rPr>
              <a:t>05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1024128" y="5166360"/>
            <a:ext cx="27432" cy="4572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33" name="Text 31"/>
          <p:cNvSpPr/>
          <p:nvPr/>
        </p:nvSpPr>
        <p:spPr>
          <a:xfrm>
            <a:off x="1143000" y="508406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Admin Panel — Actions &amp; Countries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43000" y="537667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</a:rPr>
              <a:t>Managing action plans and country data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17920" y="1371600"/>
            <a:ext cx="5486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029"/>
          </a:p>
        </p:txBody>
      </p:sp>
      <p:sp>
        <p:nvSpPr>
          <p:cNvPr id="36" name="Text 34"/>
          <p:cNvSpPr/>
          <p:nvPr/>
        </p:nvSpPr>
        <p:spPr>
          <a:xfrm>
            <a:off x="6309360" y="14447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</a:rPr>
              <a:t>06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6876288" y="1508760"/>
            <a:ext cx="27432" cy="4572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38" name="Text 36"/>
          <p:cNvSpPr/>
          <p:nvPr/>
        </p:nvSpPr>
        <p:spPr>
          <a:xfrm>
            <a:off x="6995160" y="142646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Admin Panel — Users &amp; Sessions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95160" y="171907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</a:rPr>
              <a:t>User accounts, active sessions monitoring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17920" y="2286000"/>
            <a:ext cx="5486400" cy="749808"/>
          </a:xfrm>
          <a:prstGeom prst="rect">
            <a:avLst/>
          </a:prstGeom>
          <a:solidFill>
            <a:srgbClr val="F4F4F4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029"/>
          </a:p>
        </p:txBody>
      </p:sp>
      <p:sp>
        <p:nvSpPr>
          <p:cNvPr id="41" name="Text 39"/>
          <p:cNvSpPr/>
          <p:nvPr/>
        </p:nvSpPr>
        <p:spPr>
          <a:xfrm>
            <a:off x="6309360" y="23591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</a:rPr>
              <a:t>07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6876288" y="2423160"/>
            <a:ext cx="27432" cy="4572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43" name="Text 41"/>
          <p:cNvSpPr/>
          <p:nvPr/>
        </p:nvSpPr>
        <p:spPr>
          <a:xfrm>
            <a:off x="6995160" y="234086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Questionnaire Forms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995160" y="263347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</a:rPr>
              <a:t>Completing and submitting safety questionnaires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217920" y="3200400"/>
            <a:ext cx="5486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029"/>
          </a:p>
        </p:txBody>
      </p:sp>
      <p:sp>
        <p:nvSpPr>
          <p:cNvPr id="46" name="Text 44"/>
          <p:cNvSpPr/>
          <p:nvPr/>
        </p:nvSpPr>
        <p:spPr>
          <a:xfrm>
            <a:off x="6309360" y="32735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</a:rPr>
              <a:t>08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6876288" y="3337560"/>
            <a:ext cx="27432" cy="4572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48" name="Text 46"/>
          <p:cNvSpPr/>
          <p:nvPr/>
        </p:nvSpPr>
        <p:spPr>
          <a:xfrm>
            <a:off x="6995160" y="325526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Multilingual Support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995160" y="354787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</a:rPr>
              <a:t>Switching between English, French, Portuguese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217920" y="4114800"/>
            <a:ext cx="5486400" cy="749808"/>
          </a:xfrm>
          <a:prstGeom prst="rect">
            <a:avLst/>
          </a:prstGeom>
          <a:solidFill>
            <a:srgbClr val="F4F4F4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029"/>
          </a:p>
        </p:txBody>
      </p:sp>
      <p:sp>
        <p:nvSpPr>
          <p:cNvPr id="51" name="Text 49"/>
          <p:cNvSpPr/>
          <p:nvPr/>
        </p:nvSpPr>
        <p:spPr>
          <a:xfrm>
            <a:off x="6309360" y="41879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</a:rPr>
              <a:t>09</a:t>
            </a:r>
            <a:endParaRPr lang="en-US" sz="2000" dirty="0"/>
          </a:p>
        </p:txBody>
      </p:sp>
      <p:sp>
        <p:nvSpPr>
          <p:cNvPr id="52" name="Shape 50"/>
          <p:cNvSpPr/>
          <p:nvPr/>
        </p:nvSpPr>
        <p:spPr>
          <a:xfrm>
            <a:off x="6876288" y="4251960"/>
            <a:ext cx="27432" cy="4572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53" name="Text 51"/>
          <p:cNvSpPr/>
          <p:nvPr/>
        </p:nvSpPr>
        <p:spPr>
          <a:xfrm>
            <a:off x="6995160" y="416966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Export &amp; Reports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995160" y="446227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</a:rPr>
              <a:t>Downloading Excel and PDF reports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217920" y="5029200"/>
            <a:ext cx="5486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029"/>
          </a:p>
        </p:txBody>
      </p:sp>
      <p:sp>
        <p:nvSpPr>
          <p:cNvPr id="56" name="Text 54"/>
          <p:cNvSpPr/>
          <p:nvPr/>
        </p:nvSpPr>
        <p:spPr>
          <a:xfrm>
            <a:off x="6309360" y="51023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</a:rPr>
              <a:t>10</a:t>
            </a:r>
            <a:endParaRPr lang="en-US" sz="2000" dirty="0"/>
          </a:p>
        </p:txBody>
      </p:sp>
      <p:sp>
        <p:nvSpPr>
          <p:cNvPr id="57" name="Shape 55"/>
          <p:cNvSpPr/>
          <p:nvPr/>
        </p:nvSpPr>
        <p:spPr>
          <a:xfrm>
            <a:off x="6876288" y="5166360"/>
            <a:ext cx="27432" cy="4572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58" name="Text 56"/>
          <p:cNvSpPr/>
          <p:nvPr/>
        </p:nvSpPr>
        <p:spPr>
          <a:xfrm>
            <a:off x="6995160" y="508406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Troubleshooting &amp; Support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995160" y="537667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</a:rPr>
              <a:t>Common issues and contact information</a:t>
            </a:r>
            <a:endParaRPr lang="en-US" sz="900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B80B650-3FCB-CAE3-A2FE-8BB11EB02734}"/>
              </a:ext>
            </a:extLst>
          </p:cNvPr>
          <p:cNvGrpSpPr/>
          <p:nvPr/>
        </p:nvGrpSpPr>
        <p:grpSpPr>
          <a:xfrm>
            <a:off x="-8630" y="9294"/>
            <a:ext cx="12199938" cy="186903"/>
            <a:chOff x="-8630" y="9294"/>
            <a:chExt cx="12199938" cy="186903"/>
          </a:xfrm>
        </p:grpSpPr>
        <p:pic>
          <p:nvPicPr>
            <p:cNvPr id="61" name="Image 39">
              <a:extLst>
                <a:ext uri="{FF2B5EF4-FFF2-40B4-BE49-F238E27FC236}">
                  <a16:creationId xmlns:a16="http://schemas.microsoft.com/office/drawing/2014/main" id="{53DE72C1-4DD3-8699-7351-780D07812EA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98"/>
            <a:stretch/>
          </p:blipFill>
          <p:spPr bwMode="auto">
            <a:xfrm rot="16200000" flipH="1">
              <a:off x="3083618" y="-3082954"/>
              <a:ext cx="184760" cy="63692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" name="Image 39">
              <a:extLst>
                <a:ext uri="{FF2B5EF4-FFF2-40B4-BE49-F238E27FC236}">
                  <a16:creationId xmlns:a16="http://schemas.microsoft.com/office/drawing/2014/main" id="{142A31A2-416C-E1B6-66C1-4CA95737D3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98"/>
            <a:stretch/>
          </p:blipFill>
          <p:spPr bwMode="auto">
            <a:xfrm rot="16200000" flipH="1">
              <a:off x="8914300" y="-3080811"/>
              <a:ext cx="184760" cy="636925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45847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1219200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</a:rPr>
              <a:t>✈  AFCAC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 — Introduction &amp; Overview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0" y="411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</a:rPr>
              <a:t>Revised Abuja Safety Targets Dashboard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45847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8" name="Text 6"/>
          <p:cNvSpPr/>
          <p:nvPr/>
        </p:nvSpPr>
        <p:spPr>
          <a:xfrm>
            <a:off x="274320" y="651967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9A84C"/>
                </a:solidFill>
              </a:rPr>
              <a:t>AFCAC — Revised Abuja Safety Targets Monitoring and Reporting Dashboard  |  User Manual  |  Page 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2D"/>
                </a:solidFill>
              </a:rPr>
              <a:t>What is this application?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" y="1719072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</a:rPr>
              <a:t>The Revised Abuja Safety Targets (RAST) Dashboard is the official AFCAC platform for monitoring and reporting on the 39 aviation safety targets across 54 African member states. It provides real-time visibility into progress, enables national focal points to submit data, and supports decision-making for AFCAC's Safety Unit.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651760"/>
            <a:ext cx="3657600" cy="182880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12" name="Shape 10"/>
          <p:cNvSpPr/>
          <p:nvPr/>
        </p:nvSpPr>
        <p:spPr>
          <a:xfrm>
            <a:off x="365760" y="2651760"/>
            <a:ext cx="3657600" cy="7315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13" name="Text 11"/>
          <p:cNvSpPr/>
          <p:nvPr/>
        </p:nvSpPr>
        <p:spPr>
          <a:xfrm>
            <a:off x="502920" y="27432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02920" y="3246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2D"/>
                </a:solidFill>
              </a:rPr>
              <a:t>Real-time Monitoring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56616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Live KPIs, status charts, and geographic map updated by national focal points.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97680" y="2651760"/>
            <a:ext cx="3657600" cy="182880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17" name="Shape 15"/>
          <p:cNvSpPr/>
          <p:nvPr/>
        </p:nvSpPr>
        <p:spPr>
          <a:xfrm>
            <a:off x="4297680" y="2651760"/>
            <a:ext cx="3657600" cy="7315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18" name="Text 16"/>
          <p:cNvSpPr/>
          <p:nvPr/>
        </p:nvSpPr>
        <p:spPr>
          <a:xfrm>
            <a:off x="4434840" y="27432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434840" y="3246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2D"/>
                </a:solidFill>
              </a:rPr>
              <a:t>Secure Admin Access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34840" y="356616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Role-based access for AFCAC admins and country focal points with JWT authentication.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29600" y="2651760"/>
            <a:ext cx="3657600" cy="182880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22" name="Shape 20"/>
          <p:cNvSpPr/>
          <p:nvPr/>
        </p:nvSpPr>
        <p:spPr>
          <a:xfrm>
            <a:off x="8229600" y="2651760"/>
            <a:ext cx="3657600" cy="7315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23" name="Text 21"/>
          <p:cNvSpPr/>
          <p:nvPr/>
        </p:nvSpPr>
        <p:spPr>
          <a:xfrm>
            <a:off x="8366760" y="27432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🌍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366760" y="3246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2D"/>
                </a:solidFill>
              </a:rPr>
              <a:t>Multilingual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366760" y="356616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Full support for English, French, and Portuguese — all content adapts to the selected language.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4709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2D"/>
                </a:solidFill>
              </a:rPr>
              <a:t>🌐  Production URL: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5029200"/>
            <a:ext cx="11338560" cy="384048"/>
          </a:xfrm>
          <a:prstGeom prst="rect">
            <a:avLst/>
          </a:prstGeom>
          <a:solidFill>
            <a:srgbClr val="145847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28" name="Text 26"/>
          <p:cNvSpPr/>
          <p:nvPr/>
        </p:nvSpPr>
        <p:spPr>
          <a:xfrm>
            <a:off x="548640" y="505663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</a:rPr>
              <a:t>https://afcac-dashboard.vercel.app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5760" y="55778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</a:rPr>
              <a:t>Supported browsers: Chrome · Firefox · Edge · Safari  (latest versions)</a:t>
            </a:r>
            <a:endParaRPr lang="en-US" sz="90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F29607D-D23C-9E58-B116-CC566D814F1D}"/>
              </a:ext>
            </a:extLst>
          </p:cNvPr>
          <p:cNvGrpSpPr/>
          <p:nvPr/>
        </p:nvGrpSpPr>
        <p:grpSpPr>
          <a:xfrm>
            <a:off x="-8630" y="9294"/>
            <a:ext cx="12199938" cy="186903"/>
            <a:chOff x="-8630" y="9294"/>
            <a:chExt cx="12199938" cy="186903"/>
          </a:xfrm>
        </p:grpSpPr>
        <p:pic>
          <p:nvPicPr>
            <p:cNvPr id="31" name="Image 39">
              <a:extLst>
                <a:ext uri="{FF2B5EF4-FFF2-40B4-BE49-F238E27FC236}">
                  <a16:creationId xmlns:a16="http://schemas.microsoft.com/office/drawing/2014/main" id="{F389E4C0-F11A-CCFE-63F1-38B5DC17F6E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98"/>
            <a:stretch/>
          </p:blipFill>
          <p:spPr bwMode="auto">
            <a:xfrm rot="16200000" flipH="1">
              <a:off x="3083618" y="-3082954"/>
              <a:ext cx="184760" cy="63692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" name="Image 39">
              <a:extLst>
                <a:ext uri="{FF2B5EF4-FFF2-40B4-BE49-F238E27FC236}">
                  <a16:creationId xmlns:a16="http://schemas.microsoft.com/office/drawing/2014/main" id="{5DCA518A-CF80-26C0-FC3F-C0AF9B863C3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98"/>
            <a:stretch/>
          </p:blipFill>
          <p:spPr bwMode="auto">
            <a:xfrm rot="16200000" flipH="1">
              <a:off x="8914300" y="-3080811"/>
              <a:ext cx="184760" cy="636925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45847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1219200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</a:rPr>
              <a:t>✈  AFCAC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 — Accessing the Application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A84C"/>
                </a:solidFill>
              </a:rPr>
              <a:t>Login · Roles · Language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411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</a:rPr>
              <a:t>Revised Abuja Safety Targets Dashboard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45847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9" name="Text 7"/>
          <p:cNvSpPr/>
          <p:nvPr/>
        </p:nvSpPr>
        <p:spPr>
          <a:xfrm>
            <a:off x="274320" y="651967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9A84C"/>
                </a:solidFill>
              </a:rPr>
              <a:t>AFCAC — Revised Abuja Safety Targets Monitoring and Reporting Dashboard  |  User Manual  |  Page 4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1280160"/>
            <a:ext cx="5303520" cy="384048"/>
          </a:xfrm>
          <a:prstGeom prst="rect">
            <a:avLst/>
          </a:prstGeom>
          <a:solidFill>
            <a:srgbClr val="145847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11" name="Text 9"/>
          <p:cNvSpPr/>
          <p:nvPr/>
        </p:nvSpPr>
        <p:spPr>
          <a:xfrm>
            <a:off x="502920" y="13441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🔐  Login Procedure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1.  Open https://afcac-dashboard.vercel.app in your browser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22199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2.  Click the "🔐 Sign In" button at the top-right of the dashboard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66090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3.  Enter your Username (provided by AFCAC Safety Unit)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09981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4.  Enter your Password and click "Submit"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353872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5.  You will be redirected to your authorized section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0" y="1280160"/>
            <a:ext cx="5852160" cy="384048"/>
          </a:xfrm>
          <a:prstGeom prst="rect">
            <a:avLst/>
          </a:prstGeom>
          <a:solidFill>
            <a:srgbClr val="145847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18" name="Text 16"/>
          <p:cNvSpPr/>
          <p:nvPr/>
        </p:nvSpPr>
        <p:spPr>
          <a:xfrm>
            <a:off x="6080760" y="1344168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👥  User Roles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0" y="1783080"/>
            <a:ext cx="5852160" cy="100584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20" name="Shape 18"/>
          <p:cNvSpPr/>
          <p:nvPr/>
        </p:nvSpPr>
        <p:spPr>
          <a:xfrm>
            <a:off x="5943600" y="1783080"/>
            <a:ext cx="109728" cy="1005840"/>
          </a:xfrm>
          <a:prstGeom prst="rect">
            <a:avLst/>
          </a:prstGeom>
          <a:solidFill>
            <a:srgbClr val="1B3A2D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21" name="Text 19"/>
          <p:cNvSpPr/>
          <p:nvPr/>
        </p:nvSpPr>
        <p:spPr>
          <a:xfrm>
            <a:off x="6144768" y="18288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2D"/>
                </a:solidFill>
              </a:rPr>
              <a:t>AFCAC Admin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44768" y="214884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Full access: KPIs, Targets, Actions, Countries, Users, Sessions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0" y="2971800"/>
            <a:ext cx="5852160" cy="100584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24" name="Shape 22"/>
          <p:cNvSpPr/>
          <p:nvPr/>
        </p:nvSpPr>
        <p:spPr>
          <a:xfrm>
            <a:off x="5943600" y="2971800"/>
            <a:ext cx="109728" cy="100584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25" name="Text 23"/>
          <p:cNvSpPr/>
          <p:nvPr/>
        </p:nvSpPr>
        <p:spPr>
          <a:xfrm>
            <a:off x="6144768" y="30175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</a:rPr>
              <a:t>Country Focal Point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44768" y="33375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Access to Targets tab only — update progress for assigned country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0" y="4206240"/>
            <a:ext cx="5852160" cy="384048"/>
          </a:xfrm>
          <a:prstGeom prst="rect">
            <a:avLst/>
          </a:prstGeom>
          <a:solidFill>
            <a:srgbClr val="145847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28" name="Text 26"/>
          <p:cNvSpPr/>
          <p:nvPr/>
        </p:nvSpPr>
        <p:spPr>
          <a:xfrm>
            <a:off x="6080760" y="4270248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🌐  Language Selection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43600" y="4617720"/>
            <a:ext cx="5852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Use the language switcher in the top-right menu of any page. Select from: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  🇬🇧  English (EN)   ·   🇫🇷  Français (FR)   ·   🇵🇹  Português (PT)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The entire interface — menus, labels, form options, and instructions — will immediately switch to the selected language. Your preference is saved in a cookie and persists across sessions.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4206240"/>
            <a:ext cx="5303520" cy="384048"/>
          </a:xfrm>
          <a:prstGeom prst="rect">
            <a:avLst/>
          </a:prstGeom>
          <a:solidFill>
            <a:srgbClr val="B3AE41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31" name="Text 29"/>
          <p:cNvSpPr/>
          <p:nvPr/>
        </p:nvSpPr>
        <p:spPr>
          <a:xfrm>
            <a:off x="502920" y="424281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2D"/>
                </a:solidFill>
              </a:rPr>
              <a:t>⚠  Important Notes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645152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• Do not share your credentials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• Sessions expire after inactivity — log in again if prompted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• Contact AFCAC Safety Unit to reset your password</a:t>
            </a:r>
            <a:endParaRPr lang="en-US" sz="105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5511C2B-3AA4-B2AE-C93E-F8A3BC5EF910}"/>
              </a:ext>
            </a:extLst>
          </p:cNvPr>
          <p:cNvGrpSpPr/>
          <p:nvPr/>
        </p:nvGrpSpPr>
        <p:grpSpPr>
          <a:xfrm>
            <a:off x="-8630" y="9294"/>
            <a:ext cx="12199938" cy="186903"/>
            <a:chOff x="-8630" y="9294"/>
            <a:chExt cx="12199938" cy="186903"/>
          </a:xfrm>
        </p:grpSpPr>
        <p:pic>
          <p:nvPicPr>
            <p:cNvPr id="34" name="Image 39">
              <a:extLst>
                <a:ext uri="{FF2B5EF4-FFF2-40B4-BE49-F238E27FC236}">
                  <a16:creationId xmlns:a16="http://schemas.microsoft.com/office/drawing/2014/main" id="{CFC352C3-794A-1E5A-D96F-78C1CF285DA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98"/>
            <a:stretch/>
          </p:blipFill>
          <p:spPr bwMode="auto">
            <a:xfrm rot="16200000" flipH="1">
              <a:off x="3083618" y="-3082954"/>
              <a:ext cx="184760" cy="63692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" name="Image 39">
              <a:extLst>
                <a:ext uri="{FF2B5EF4-FFF2-40B4-BE49-F238E27FC236}">
                  <a16:creationId xmlns:a16="http://schemas.microsoft.com/office/drawing/2014/main" id="{D6994452-DC6A-2D20-536E-6B0CB1C633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98"/>
            <a:stretch/>
          </p:blipFill>
          <p:spPr bwMode="auto">
            <a:xfrm rot="16200000" flipH="1">
              <a:off x="8914300" y="-3080811"/>
              <a:ext cx="184760" cy="636925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45847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1219200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</a:rPr>
              <a:t>✈  AFCAC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 — Dashboard — Main Page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A84C"/>
                </a:solidFill>
              </a:rPr>
              <a:t>Public overview — no login required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411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</a:rPr>
              <a:t>Revised Abuja Safety Targets Dashboard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45847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9" name="Text 7"/>
          <p:cNvSpPr/>
          <p:nvPr/>
        </p:nvSpPr>
        <p:spPr>
          <a:xfrm>
            <a:off x="274320" y="651967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9A84C"/>
                </a:solidFill>
              </a:rPr>
              <a:t>AFCAC — Revised Abuja Safety Targets Monitoring and Reporting Dashboard  |  User Manual  |  Page 5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1325880"/>
            <a:ext cx="5669280" cy="109728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566928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12" name="Text 10"/>
          <p:cNvSpPr/>
          <p:nvPr/>
        </p:nvSpPr>
        <p:spPr>
          <a:xfrm>
            <a:off x="502920" y="14173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2D"/>
                </a:solidFill>
              </a:rPr>
              <a:t>📊  Executive Summary (KPIs)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1737360"/>
            <a:ext cx="5394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Top banner showing: Total Countries, Total Actions, % Completed, % In Progress, Average Duration, Experts Planned. These values are updated by AFCAC admins.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606040"/>
            <a:ext cx="5669280" cy="109728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15" name="Shape 13"/>
          <p:cNvSpPr/>
          <p:nvPr/>
        </p:nvSpPr>
        <p:spPr>
          <a:xfrm>
            <a:off x="365760" y="2606040"/>
            <a:ext cx="566928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16" name="Text 14"/>
          <p:cNvSpPr/>
          <p:nvPr/>
        </p:nvSpPr>
        <p:spPr>
          <a:xfrm>
            <a:off x="502920" y="26974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2D"/>
                </a:solidFill>
              </a:rPr>
              <a:t>📈  Status Distribution Bar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017520"/>
            <a:ext cx="5394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A horizontal bar chart showing the continental distribution of action statuses: Completed, In Progress, Delayed, On Hold, Not Started. Click "About this indicator" for details.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886200"/>
            <a:ext cx="5669280" cy="109728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19" name="Shape 17"/>
          <p:cNvSpPr/>
          <p:nvPr/>
        </p:nvSpPr>
        <p:spPr>
          <a:xfrm>
            <a:off x="365760" y="3886200"/>
            <a:ext cx="566928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20" name="Text 18"/>
          <p:cNvSpPr/>
          <p:nvPr/>
        </p:nvSpPr>
        <p:spPr>
          <a:xfrm>
            <a:off x="502920" y="39776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2D"/>
                </a:solidFill>
              </a:rPr>
              <a:t>🌍  Africa Status Map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297680"/>
            <a:ext cx="5394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An interactive map of Africa where each country is color-coded by overall status. Hover over a country to see its name, number of targets, and current status.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309360" y="1325880"/>
            <a:ext cx="5669280" cy="109728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23" name="Shape 21"/>
          <p:cNvSpPr/>
          <p:nvPr/>
        </p:nvSpPr>
        <p:spPr>
          <a:xfrm>
            <a:off x="6309360" y="1325880"/>
            <a:ext cx="566928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24" name="Text 22"/>
          <p:cNvSpPr/>
          <p:nvPr/>
        </p:nvSpPr>
        <p:spPr>
          <a:xfrm>
            <a:off x="6446520" y="14173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2D"/>
                </a:solidFill>
              </a:rPr>
              <a:t>📋  Action Plan Detail Table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46520" y="1737360"/>
            <a:ext cx="5394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A filterable table listing all actions with columns: Country, Target ID, Section, Status, Start, End, Progress. Use the filter bar to search by country or status.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309360" y="2606040"/>
            <a:ext cx="5669280" cy="109728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27" name="Shape 25"/>
          <p:cNvSpPr/>
          <p:nvPr/>
        </p:nvSpPr>
        <p:spPr>
          <a:xfrm>
            <a:off x="6309360" y="2606040"/>
            <a:ext cx="566928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28" name="Text 26"/>
          <p:cNvSpPr/>
          <p:nvPr/>
        </p:nvSpPr>
        <p:spPr>
          <a:xfrm>
            <a:off x="6446520" y="26974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2D"/>
                </a:solidFill>
              </a:rPr>
              <a:t>🎯  Target Achievement Grid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46520" y="3017520"/>
            <a:ext cx="5394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A grid of all 15 Abuja Safety Targets showing the continental average score for each. Color-coded from red (0%) to green (100%).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309360" y="3886200"/>
            <a:ext cx="5669280" cy="109728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31" name="Shape 29"/>
          <p:cNvSpPr/>
          <p:nvPr/>
        </p:nvSpPr>
        <p:spPr>
          <a:xfrm>
            <a:off x="6309360" y="3886200"/>
            <a:ext cx="566928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32" name="Text 30"/>
          <p:cNvSpPr/>
          <p:nvPr/>
        </p:nvSpPr>
        <p:spPr>
          <a:xfrm>
            <a:off x="6446520" y="39776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2D"/>
                </a:solidFill>
              </a:rPr>
              <a:t>⬇  Export Buttons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46520" y="4297680"/>
            <a:ext cx="5394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Download the full dashboard data as Excel (.xlsx) or PDF. The export includes all visible data at the time of download.</a:t>
            </a:r>
            <a:endParaRPr lang="en-US" sz="95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6B4DB73-2BCA-F09A-9A60-1B8247B71350}"/>
              </a:ext>
            </a:extLst>
          </p:cNvPr>
          <p:cNvGrpSpPr/>
          <p:nvPr/>
        </p:nvGrpSpPr>
        <p:grpSpPr>
          <a:xfrm>
            <a:off x="-8630" y="9294"/>
            <a:ext cx="12199938" cy="186903"/>
            <a:chOff x="-8630" y="9294"/>
            <a:chExt cx="12199938" cy="186903"/>
          </a:xfrm>
        </p:grpSpPr>
        <p:pic>
          <p:nvPicPr>
            <p:cNvPr id="35" name="Image 39">
              <a:extLst>
                <a:ext uri="{FF2B5EF4-FFF2-40B4-BE49-F238E27FC236}">
                  <a16:creationId xmlns:a16="http://schemas.microsoft.com/office/drawing/2014/main" id="{11CA6A51-41EB-A5DF-C0F4-4B08D1AAB80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98"/>
            <a:stretch/>
          </p:blipFill>
          <p:spPr bwMode="auto">
            <a:xfrm rot="16200000" flipH="1">
              <a:off x="3083618" y="-3082954"/>
              <a:ext cx="184760" cy="63692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" name="Image 39">
              <a:extLst>
                <a:ext uri="{FF2B5EF4-FFF2-40B4-BE49-F238E27FC236}">
                  <a16:creationId xmlns:a16="http://schemas.microsoft.com/office/drawing/2014/main" id="{549A14A2-157B-0FE5-C385-1C64AC58D80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98"/>
            <a:stretch/>
          </p:blipFill>
          <p:spPr bwMode="auto">
            <a:xfrm rot="16200000" flipH="1">
              <a:off x="8914300" y="-3080811"/>
              <a:ext cx="184760" cy="636925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45847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1219200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</a:rPr>
              <a:t>✈  AFCAC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 — Admin Panel: Targets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A84C"/>
                </a:solidFill>
              </a:rPr>
              <a:t>Updating safety target progress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411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</a:rPr>
              <a:t>Revised Abuja Safety Targets Dashboard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45847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9" name="Text 7"/>
          <p:cNvSpPr/>
          <p:nvPr/>
        </p:nvSpPr>
        <p:spPr>
          <a:xfrm>
            <a:off x="274320" y="651967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9A84C"/>
                </a:solidFill>
              </a:rPr>
              <a:t>AFCAC — Revised Abuja Safety Targets Monitoring and Reporting Dashboard  |  User Manual  |  Page 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132588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2D"/>
                </a:solidFill>
              </a:rPr>
              <a:t>How to update a safety target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783080"/>
            <a:ext cx="411480" cy="411480"/>
          </a:xfrm>
          <a:prstGeom prst="rect">
            <a:avLst/>
          </a:prstGeom>
          <a:solidFill>
            <a:srgbClr val="1B3A2D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12" name="Text 10"/>
          <p:cNvSpPr/>
          <p:nvPr/>
        </p:nvSpPr>
        <p:spPr>
          <a:xfrm>
            <a:off x="365760" y="182880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1819656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Log in and click "⚙ Admin" in the header to access the admin panel.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359152"/>
            <a:ext cx="411480" cy="411480"/>
          </a:xfrm>
          <a:prstGeom prst="rect">
            <a:avLst/>
          </a:prstGeom>
          <a:solidFill>
            <a:srgbClr val="1B3A2D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15" name="Text 13"/>
          <p:cNvSpPr/>
          <p:nvPr/>
        </p:nvSpPr>
        <p:spPr>
          <a:xfrm>
            <a:off x="365760" y="240487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239572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Click the "🎯 Safety Targets" tab in the left navigation sidebar.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935224"/>
            <a:ext cx="411480" cy="411480"/>
          </a:xfrm>
          <a:prstGeom prst="rect">
            <a:avLst/>
          </a:prstGeom>
          <a:solidFill>
            <a:srgbClr val="1B3A2D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18" name="Text 16"/>
          <p:cNvSpPr/>
          <p:nvPr/>
        </p:nvSpPr>
        <p:spPr>
          <a:xfrm>
            <a:off x="365760" y="2980944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29718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Fill in your name in "Full Name" and select your country in "Country Represented".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511296"/>
            <a:ext cx="411480" cy="411480"/>
          </a:xfrm>
          <a:prstGeom prst="rect">
            <a:avLst/>
          </a:prstGeom>
          <a:solidFill>
            <a:srgbClr val="1B3A2D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21" name="Text 19"/>
          <p:cNvSpPr/>
          <p:nvPr/>
        </p:nvSpPr>
        <p:spPr>
          <a:xfrm>
            <a:off x="365760" y="3557016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3547872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Scroll to the target you want to update (grouped by safety category).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087368"/>
            <a:ext cx="411480" cy="411480"/>
          </a:xfrm>
          <a:prstGeom prst="rect">
            <a:avLst/>
          </a:prstGeom>
          <a:solidFill>
            <a:srgbClr val="1B3A2D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24" name="Text 22"/>
          <p:cNvSpPr/>
          <p:nvPr/>
        </p:nvSpPr>
        <p:spPr>
          <a:xfrm>
            <a:off x="365760" y="413308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412394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Use the dropdown to select the progress level (0% to 100%).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663440"/>
            <a:ext cx="411480" cy="411480"/>
          </a:xfrm>
          <a:prstGeom prst="rect">
            <a:avLst/>
          </a:prstGeom>
          <a:solidFill>
            <a:srgbClr val="1B3A2D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27" name="Text 25"/>
          <p:cNvSpPr/>
          <p:nvPr/>
        </p:nvSpPr>
        <p:spPr>
          <a:xfrm>
            <a:off x="365760" y="470916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4400" y="4700016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Optionally update the "Deadline" field for the target.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5239512"/>
            <a:ext cx="411480" cy="411480"/>
          </a:xfrm>
          <a:prstGeom prst="rect">
            <a:avLst/>
          </a:prstGeom>
          <a:solidFill>
            <a:srgbClr val="1B3A2D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30" name="Text 28"/>
          <p:cNvSpPr/>
          <p:nvPr/>
        </p:nvSpPr>
        <p:spPr>
          <a:xfrm>
            <a:off x="365760" y="528523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</a:rPr>
              <a:t>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14400" y="527608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When finished, click "💾 Save Changes" at the bottom of the page.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5715000"/>
            <a:ext cx="11430000" cy="347472"/>
          </a:xfrm>
          <a:prstGeom prst="rect">
            <a:avLst/>
          </a:prstGeom>
          <a:solidFill>
            <a:srgbClr val="145847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33" name="Text 31"/>
          <p:cNvSpPr/>
          <p:nvPr/>
        </p:nvSpPr>
        <p:spPr>
          <a:xfrm>
            <a:off x="502920" y="577900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 Progress Levels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6080760"/>
            <a:ext cx="2103120" cy="274320"/>
          </a:xfrm>
          <a:prstGeom prst="rect">
            <a:avLst/>
          </a:prstGeom>
          <a:solidFill>
            <a:srgbClr val="95A5A6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35" name="Text 33"/>
          <p:cNvSpPr/>
          <p:nvPr/>
        </p:nvSpPr>
        <p:spPr>
          <a:xfrm>
            <a:off x="457200" y="60807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0% — Not Started / Not Applicable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743200" y="6080760"/>
            <a:ext cx="2103120" cy="274320"/>
          </a:xfrm>
          <a:prstGeom prst="rect">
            <a:avLst/>
          </a:prstGeom>
          <a:solidFill>
            <a:srgbClr val="E07B39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37" name="Text 35"/>
          <p:cNvSpPr/>
          <p:nvPr/>
        </p:nvSpPr>
        <p:spPr>
          <a:xfrm>
            <a:off x="2743200" y="60807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25% — Partially Initiated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029200" y="6080760"/>
            <a:ext cx="2103120" cy="27432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39" name="Text 37"/>
          <p:cNvSpPr/>
          <p:nvPr/>
        </p:nvSpPr>
        <p:spPr>
          <a:xfrm>
            <a:off x="5029200" y="60807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50% — In Progress / Partially Achieved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315200" y="6080760"/>
            <a:ext cx="2103120" cy="274320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41" name="Text 39"/>
          <p:cNvSpPr/>
          <p:nvPr/>
        </p:nvSpPr>
        <p:spPr>
          <a:xfrm>
            <a:off x="7315200" y="60807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75% — Advanced / On Track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9601200" y="6080760"/>
            <a:ext cx="2103120" cy="274320"/>
          </a:xfrm>
          <a:prstGeom prst="rect">
            <a:avLst/>
          </a:prstGeom>
          <a:solidFill>
            <a:srgbClr val="2D9D5E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43" name="Text 41"/>
          <p:cNvSpPr/>
          <p:nvPr/>
        </p:nvSpPr>
        <p:spPr>
          <a:xfrm>
            <a:off x="9601200" y="60807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100% — Fully Achieved</a:t>
            </a:r>
            <a:endParaRPr lang="en-US" sz="750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55FFF17-5ED6-EBFA-6DB7-E15A65EB2214}"/>
              </a:ext>
            </a:extLst>
          </p:cNvPr>
          <p:cNvGrpSpPr/>
          <p:nvPr/>
        </p:nvGrpSpPr>
        <p:grpSpPr>
          <a:xfrm>
            <a:off x="-8630" y="9294"/>
            <a:ext cx="12199938" cy="186903"/>
            <a:chOff x="-8630" y="9294"/>
            <a:chExt cx="12199938" cy="186903"/>
          </a:xfrm>
        </p:grpSpPr>
        <p:pic>
          <p:nvPicPr>
            <p:cNvPr id="45" name="Image 39">
              <a:extLst>
                <a:ext uri="{FF2B5EF4-FFF2-40B4-BE49-F238E27FC236}">
                  <a16:creationId xmlns:a16="http://schemas.microsoft.com/office/drawing/2014/main" id="{35E0762F-517A-1B1A-271D-1BA1C7A3527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98"/>
            <a:stretch/>
          </p:blipFill>
          <p:spPr bwMode="auto">
            <a:xfrm rot="16200000" flipH="1">
              <a:off x="3083618" y="-3082954"/>
              <a:ext cx="184760" cy="63692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" name="Image 39">
              <a:extLst>
                <a:ext uri="{FF2B5EF4-FFF2-40B4-BE49-F238E27FC236}">
                  <a16:creationId xmlns:a16="http://schemas.microsoft.com/office/drawing/2014/main" id="{4ACAEB00-CC5E-274C-3ADC-B62AEC1CB41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98"/>
            <a:stretch/>
          </p:blipFill>
          <p:spPr bwMode="auto">
            <a:xfrm rot="16200000" flipH="1">
              <a:off x="8914300" y="-3080811"/>
              <a:ext cx="184760" cy="636925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45847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1219200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</a:rPr>
              <a:t>✈  AFCAC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 — Admin Panel: Actions &amp; Countries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0" y="411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</a:rPr>
              <a:t>Revised Abuja Safety Targets Dashboard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45847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8" name="Text 6"/>
          <p:cNvSpPr/>
          <p:nvPr/>
        </p:nvSpPr>
        <p:spPr>
          <a:xfrm>
            <a:off x="274320" y="651967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9A84C"/>
                </a:solidFill>
              </a:rPr>
              <a:t>AFCAC — Revised Abuja Safety Targets Monitoring and Reporting Dashboard  |  User Manual  |  Page 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5669280" cy="384048"/>
          </a:xfrm>
          <a:prstGeom prst="rect">
            <a:avLst/>
          </a:prstGeom>
          <a:solidFill>
            <a:srgbClr val="145847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10" name="Text 8"/>
          <p:cNvSpPr/>
          <p:nvPr/>
        </p:nvSpPr>
        <p:spPr>
          <a:xfrm>
            <a:off x="502920" y="134416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 Actions Tab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737360"/>
            <a:ext cx="5669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The Actions tab lists all action plans for every country. You can: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• Change the Status of any action (Completed, In Progress, Delayed, On Hold, Not Started)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• Update the Start and End dates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• Add or edit the Responsible person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• Track progress percentage per action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All changes are saved when you click "💾 Save Changes" at the bottom.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5577840" cy="384048"/>
          </a:xfrm>
          <a:prstGeom prst="rect">
            <a:avLst/>
          </a:prstGeom>
          <a:solidFill>
            <a:srgbClr val="145847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13" name="Text 11"/>
          <p:cNvSpPr/>
          <p:nvPr/>
        </p:nvSpPr>
        <p:spPr>
          <a:xfrm>
            <a:off x="6355080" y="134416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🌍  Countries Tab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1737360"/>
            <a:ext cx="5577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The Countries tab allows updating aggregated country-level data: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• Total number of actions per country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• Budget information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• Breakdown of statuses (Completed / In Progress / Delayed / On Hold / Not Started)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This data feeds the Country Breakdown table and the Africa Map on the main dashboard.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4069080"/>
            <a:ext cx="5669280" cy="384048"/>
          </a:xfrm>
          <a:prstGeom prst="rect">
            <a:avLst/>
          </a:prstGeom>
          <a:solidFill>
            <a:srgbClr val="145847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16" name="Text 14"/>
          <p:cNvSpPr/>
          <p:nvPr/>
        </p:nvSpPr>
        <p:spPr>
          <a:xfrm>
            <a:off x="502920" y="413308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 KPIs Tab (Admin only)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4526280"/>
            <a:ext cx="5669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The KPIs tab controls the headline figures shown in the Executive Summary: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• Total Countries · Total Actions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• % Completed · % In Progress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• Average Duration (weeks)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• Experts Planned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• Trend labels for each indicator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4069080"/>
            <a:ext cx="5577840" cy="38404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19" name="Text 17"/>
          <p:cNvSpPr/>
          <p:nvPr/>
        </p:nvSpPr>
        <p:spPr>
          <a:xfrm>
            <a:off x="6355080" y="413308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⚠  Important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4526280"/>
            <a:ext cx="5577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Always fill in your identity (Full Name + Country) before saving. All updates are timestamped and attributed to the person who submitted them. The dashboard refreshes automatically after a successful save.</a:t>
            </a:r>
            <a:endParaRPr lang="en-US" sz="105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340352C-427A-414B-67E3-1B7B98E16D5B}"/>
              </a:ext>
            </a:extLst>
          </p:cNvPr>
          <p:cNvGrpSpPr/>
          <p:nvPr/>
        </p:nvGrpSpPr>
        <p:grpSpPr>
          <a:xfrm>
            <a:off x="-8630" y="9294"/>
            <a:ext cx="12199938" cy="186903"/>
            <a:chOff x="-8630" y="9294"/>
            <a:chExt cx="12199938" cy="186903"/>
          </a:xfrm>
        </p:grpSpPr>
        <p:pic>
          <p:nvPicPr>
            <p:cNvPr id="22" name="Image 39">
              <a:extLst>
                <a:ext uri="{FF2B5EF4-FFF2-40B4-BE49-F238E27FC236}">
                  <a16:creationId xmlns:a16="http://schemas.microsoft.com/office/drawing/2014/main" id="{3F13A704-0773-07D1-3812-7F643B6EC2D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98"/>
            <a:stretch/>
          </p:blipFill>
          <p:spPr bwMode="auto">
            <a:xfrm rot="16200000" flipH="1">
              <a:off x="3083618" y="-3082954"/>
              <a:ext cx="184760" cy="63692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Image 39">
              <a:extLst>
                <a:ext uri="{FF2B5EF4-FFF2-40B4-BE49-F238E27FC236}">
                  <a16:creationId xmlns:a16="http://schemas.microsoft.com/office/drawing/2014/main" id="{0E03677C-2173-151D-CC40-36DBD0C6C07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98"/>
            <a:stretch/>
          </p:blipFill>
          <p:spPr bwMode="auto">
            <a:xfrm rot="16200000" flipH="1">
              <a:off x="8914300" y="-3080811"/>
              <a:ext cx="184760" cy="636925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45847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1219200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</a:rPr>
              <a:t>✈  AFCAC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06 — Admin Panel: Users &amp; Sessions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A84C"/>
                </a:solidFill>
              </a:rPr>
              <a:t>For AFCAC Administrators only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411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</a:rPr>
              <a:t>Revised Abuja Safety Targets Dashboard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45847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9" name="Text 7"/>
          <p:cNvSpPr/>
          <p:nvPr/>
        </p:nvSpPr>
        <p:spPr>
          <a:xfrm>
            <a:off x="274320" y="651967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9A84C"/>
                </a:solidFill>
              </a:rPr>
              <a:t>AFCAC — Revised Abuja Safety Targets Monitoring and Reporting Dashboard  |  User Manual  |  Page 8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1280160"/>
            <a:ext cx="5669280" cy="384048"/>
          </a:xfrm>
          <a:prstGeom prst="rect">
            <a:avLst/>
          </a:prstGeom>
          <a:solidFill>
            <a:srgbClr val="145847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11" name="Text 9"/>
          <p:cNvSpPr/>
          <p:nvPr/>
        </p:nvSpPr>
        <p:spPr>
          <a:xfrm>
            <a:off x="502920" y="134416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🔑  Users Tab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1737360"/>
            <a:ext cx="5669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The Users tab lists all 54 country focal points (one per AFCAC member state). For each user you can see: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• Username and assigned country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• Role (focal_point or admin)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• Account status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This tab is visible only to AFCAC Admin accounts.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1280160"/>
            <a:ext cx="5577840" cy="384048"/>
          </a:xfrm>
          <a:prstGeom prst="rect">
            <a:avLst/>
          </a:prstGeom>
          <a:solidFill>
            <a:srgbClr val="145847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14" name="Text 12"/>
          <p:cNvSpPr/>
          <p:nvPr/>
        </p:nvSpPr>
        <p:spPr>
          <a:xfrm>
            <a:off x="6355080" y="134416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🟢  Sessions Tab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737360"/>
            <a:ext cx="5577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The Sessions tab provides real-time visibility of all currently connected users: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• Username and country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• Login time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• IP address and approximate location (country/city)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• Session duration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The list refreshes automatically every 30 seconds. This allows AFCAC staff to monitor who is actively using the platform.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4297680"/>
            <a:ext cx="11430000" cy="164592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17" name="Shape 15"/>
          <p:cNvSpPr/>
          <p:nvPr/>
        </p:nvSpPr>
        <p:spPr>
          <a:xfrm>
            <a:off x="365760" y="4297680"/>
            <a:ext cx="1143000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18" name="Text 16"/>
          <p:cNvSpPr/>
          <p:nvPr/>
        </p:nvSpPr>
        <p:spPr>
          <a:xfrm>
            <a:off x="502920" y="437083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2D"/>
                </a:solidFill>
              </a:rPr>
              <a:t>🔒  Security Best Practices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470916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• Never share your admin credentials with anyone, including country focal points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• If you notice a suspicious session (unknown IP or country), contact the system administrator immediately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• Admin accounts should log out after each session — use the "⏻ Log Out" button in the header</a:t>
            </a:r>
            <a:endParaRPr lang="en-US" sz="105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A080ACE-131D-FD97-28CE-35C9B29F7C5E}"/>
              </a:ext>
            </a:extLst>
          </p:cNvPr>
          <p:cNvGrpSpPr/>
          <p:nvPr/>
        </p:nvGrpSpPr>
        <p:grpSpPr>
          <a:xfrm>
            <a:off x="-8630" y="9294"/>
            <a:ext cx="12199938" cy="186903"/>
            <a:chOff x="-8630" y="9294"/>
            <a:chExt cx="12199938" cy="186903"/>
          </a:xfrm>
        </p:grpSpPr>
        <p:pic>
          <p:nvPicPr>
            <p:cNvPr id="21" name="Image 39">
              <a:extLst>
                <a:ext uri="{FF2B5EF4-FFF2-40B4-BE49-F238E27FC236}">
                  <a16:creationId xmlns:a16="http://schemas.microsoft.com/office/drawing/2014/main" id="{9E0201BD-DC4F-494C-48F3-7BF747082A1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98"/>
            <a:stretch/>
          </p:blipFill>
          <p:spPr bwMode="auto">
            <a:xfrm rot="16200000" flipH="1">
              <a:off x="3083618" y="-3082954"/>
              <a:ext cx="184760" cy="63692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Image 39">
              <a:extLst>
                <a:ext uri="{FF2B5EF4-FFF2-40B4-BE49-F238E27FC236}">
                  <a16:creationId xmlns:a16="http://schemas.microsoft.com/office/drawing/2014/main" id="{58E509B7-2844-E8C4-05AF-B626EDD123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98"/>
            <a:stretch/>
          </p:blipFill>
          <p:spPr bwMode="auto">
            <a:xfrm rot="16200000" flipH="1">
              <a:off x="8914300" y="-3080811"/>
              <a:ext cx="184760" cy="636925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45847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1219200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</a:rPr>
              <a:t>✈  AFCAC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07 — Questionnaire Forms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A84C"/>
                </a:solidFill>
              </a:rPr>
              <a:t>State Safety Self-Assessment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411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</a:rPr>
              <a:t>Revised Abuja Safety Targets Dashboard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45847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9" name="Text 7"/>
          <p:cNvSpPr/>
          <p:nvPr/>
        </p:nvSpPr>
        <p:spPr>
          <a:xfrm>
            <a:off x="274320" y="651967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9A84C"/>
                </a:solidFill>
              </a:rPr>
              <a:t>AFCAC — Revised Abuja Safety Targets Monitoring and Reporting Dashboard  |  User Manual  |  Page 9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132588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The questionnaire allows each country's focal point to assess their state's level of implementation for each safety target.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783080"/>
            <a:ext cx="5303520" cy="365760"/>
          </a:xfrm>
          <a:prstGeom prst="rect">
            <a:avLst/>
          </a:prstGeom>
          <a:solidFill>
            <a:srgbClr val="145847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12" name="Text 10"/>
          <p:cNvSpPr/>
          <p:nvPr/>
        </p:nvSpPr>
        <p:spPr>
          <a:xfrm>
            <a:off x="502920" y="18470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🔗  How to Access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219456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• Form 1: https://afcac-dashboard.vercel.app/formulaire-1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• Form 2: https://afcac-dashboard.vercel.app/formulaire-2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• Or navigate from the main dashboard header menu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852160" y="1783080"/>
            <a:ext cx="5943600" cy="365760"/>
          </a:xfrm>
          <a:prstGeom prst="rect">
            <a:avLst/>
          </a:prstGeom>
          <a:solidFill>
            <a:srgbClr val="145847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15" name="Text 13"/>
          <p:cNvSpPr/>
          <p:nvPr/>
        </p:nvSpPr>
        <p:spPr>
          <a:xfrm>
            <a:off x="5989320" y="1847088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📝  How to Complete a Form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52160" y="219456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1. Select your State / Country from the left panel dropdown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52160" y="2587752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2. For each question, read the statement carefully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52160" y="2980944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3. Select the option (a to e) that best describes your current level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52160" y="3374136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4. Optionally add a comment or observation for context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52160" y="3767328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5. Track progress in the header completion bar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52160" y="416052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6. Click "📋 Summary" to review all answers before submitting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852160" y="4553712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7. Click "✔ Submit to Dashboard" to send your responses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246120"/>
            <a:ext cx="5303520" cy="365760"/>
          </a:xfrm>
          <a:prstGeom prst="rect">
            <a:avLst/>
          </a:prstGeom>
          <a:solidFill>
            <a:srgbClr val="145847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24" name="Text 22"/>
          <p:cNvSpPr/>
          <p:nvPr/>
        </p:nvSpPr>
        <p:spPr>
          <a:xfrm>
            <a:off x="502920" y="33101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 Score Levels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3657600"/>
            <a:ext cx="530352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Each question has 5 options scored 0% to 100%: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a) 0% — Not Started / Not Applicable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b) 25% — Partially Initiated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c) 50% — In Progress / Partially Achieved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d) 75% — Advanced / On Track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e) 100% — Fully Achieved</a:t>
            </a:r>
            <a:endParaRPr lang="en-US" sz="105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6B5AB82-B702-F089-5A7A-5B867880978D}"/>
              </a:ext>
            </a:extLst>
          </p:cNvPr>
          <p:cNvGrpSpPr/>
          <p:nvPr/>
        </p:nvGrpSpPr>
        <p:grpSpPr>
          <a:xfrm>
            <a:off x="-8630" y="9294"/>
            <a:ext cx="12199938" cy="186903"/>
            <a:chOff x="-8630" y="9294"/>
            <a:chExt cx="12199938" cy="186903"/>
          </a:xfrm>
        </p:grpSpPr>
        <p:pic>
          <p:nvPicPr>
            <p:cNvPr id="27" name="Image 39">
              <a:extLst>
                <a:ext uri="{FF2B5EF4-FFF2-40B4-BE49-F238E27FC236}">
                  <a16:creationId xmlns:a16="http://schemas.microsoft.com/office/drawing/2014/main" id="{23DB73BA-95A0-15A7-07CB-46F7654FE6F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98"/>
            <a:stretch/>
          </p:blipFill>
          <p:spPr bwMode="auto">
            <a:xfrm rot="16200000" flipH="1">
              <a:off x="3083618" y="-3082954"/>
              <a:ext cx="184760" cy="63692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" name="Image 39">
              <a:extLst>
                <a:ext uri="{FF2B5EF4-FFF2-40B4-BE49-F238E27FC236}">
                  <a16:creationId xmlns:a16="http://schemas.microsoft.com/office/drawing/2014/main" id="{246EA41C-70C3-9776-2AAA-409AD687277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98"/>
            <a:stretch/>
          </p:blipFill>
          <p:spPr bwMode="auto">
            <a:xfrm rot="16200000" flipH="1">
              <a:off x="8914300" y="-3080811"/>
              <a:ext cx="184760" cy="636925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45847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1219200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</a:rPr>
              <a:t>✈  AFCAC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08 — Multilingual Support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A84C"/>
                </a:solidFill>
              </a:rPr>
              <a:t>English · Français · Português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411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</a:rPr>
              <a:t>Revised Abuja Safety Targets Dashboard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45847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9" name="Text 7"/>
          <p:cNvSpPr/>
          <p:nvPr/>
        </p:nvSpPr>
        <p:spPr>
          <a:xfrm>
            <a:off x="274320" y="651967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9A84C"/>
                </a:solidFill>
              </a:rPr>
              <a:t>AFCAC — Revised Abuja Safety Targets Monitoring and Reporting Dashboard  |  User Manual  |  Page 10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1325880"/>
            <a:ext cx="3657600" cy="228600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3657600" cy="7315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12" name="Text 10"/>
          <p:cNvSpPr/>
          <p:nvPr/>
        </p:nvSpPr>
        <p:spPr>
          <a:xfrm>
            <a:off x="502920" y="14173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🇬🇧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234440" y="1463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84C"/>
                </a:solidFill>
              </a:rPr>
              <a:t>EN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02920" y="20574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2D"/>
                </a:solidFill>
              </a:rPr>
              <a:t>English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242316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Default language. All base content is in English.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97680" y="1325880"/>
            <a:ext cx="3657600" cy="228600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17" name="Shape 15"/>
          <p:cNvSpPr/>
          <p:nvPr/>
        </p:nvSpPr>
        <p:spPr>
          <a:xfrm>
            <a:off x="4297680" y="1325880"/>
            <a:ext cx="3657600" cy="7315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18" name="Text 16"/>
          <p:cNvSpPr/>
          <p:nvPr/>
        </p:nvSpPr>
        <p:spPr>
          <a:xfrm>
            <a:off x="4434840" y="14173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🇫🇷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5166360" y="1463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84C"/>
                </a:solidFill>
              </a:rPr>
              <a:t>FR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434840" y="20574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2D"/>
                </a:solidFill>
              </a:rPr>
              <a:t>Français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434840" y="242316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Full French translation of all interface elements, menus, and form options.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29600" y="1325880"/>
            <a:ext cx="3657600" cy="228600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23" name="Shape 21"/>
          <p:cNvSpPr/>
          <p:nvPr/>
        </p:nvSpPr>
        <p:spPr>
          <a:xfrm>
            <a:off x="8229600" y="1325880"/>
            <a:ext cx="3657600" cy="7315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24" name="Text 22"/>
          <p:cNvSpPr/>
          <p:nvPr/>
        </p:nvSpPr>
        <p:spPr>
          <a:xfrm>
            <a:off x="8366760" y="14173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🇵🇹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9098280" y="1463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84C"/>
                </a:solidFill>
              </a:rPr>
              <a:t>PT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366760" y="20574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2D"/>
                </a:solidFill>
              </a:rPr>
              <a:t>Português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66760" y="242316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Full Portuguese translation for Lusophone member states.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794760"/>
            <a:ext cx="11430000" cy="365760"/>
          </a:xfrm>
          <a:prstGeom prst="rect">
            <a:avLst/>
          </a:prstGeom>
          <a:solidFill>
            <a:srgbClr val="145847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29" name="Text 27"/>
          <p:cNvSpPr/>
          <p:nvPr/>
        </p:nvSpPr>
        <p:spPr>
          <a:xfrm>
            <a:off x="502920" y="385876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🔄  What gets translated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42519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2D"/>
                </a:solidFill>
              </a:rPr>
              <a:t>✅  Dashboard labels &amp; KPIs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297680" y="42519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2D"/>
                </a:solidFill>
              </a:rPr>
              <a:t>✅  Navigation menus &amp; tabs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138160" y="42519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2D"/>
                </a:solidFill>
              </a:rPr>
              <a:t>✅  Admin panel titles &amp; intro texts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463600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2D"/>
                </a:solidFill>
              </a:rPr>
              <a:t>✅  Score option labels (a–e)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297680" y="463600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2D"/>
                </a:solidFill>
              </a:rPr>
              <a:t>✅  Score descriptions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8160" y="463600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2D"/>
                </a:solidFill>
              </a:rPr>
              <a:t>✅  Questionnaire questions &amp; options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502005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2D"/>
                </a:solidFill>
              </a:rPr>
              <a:t>✅  Form placeholders &amp; buttons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297680" y="502005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2D"/>
                </a:solidFill>
              </a:rPr>
              <a:t>✅  Login page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138160" y="502005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2D"/>
                </a:solidFill>
              </a:rPr>
              <a:t>✅  Export labels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57200" y="540410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2D"/>
                </a:solidFill>
              </a:rPr>
              <a:t>✅  Error &amp; success messages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297680" y="540410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2D"/>
                </a:solidFill>
              </a:rPr>
              <a:t>✅  Declarant identity section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138160" y="540410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</a:rPr>
              <a:t>—  Country names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65760" y="621792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</a:rPr>
              <a:t>💡  Language preference is saved in a browser cookie — no need to re-select on each visit.</a:t>
            </a:r>
            <a:endParaRPr lang="en-US" sz="90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1844FB1-AB10-0E34-0A90-98A5483FDEF5}"/>
              </a:ext>
            </a:extLst>
          </p:cNvPr>
          <p:cNvGrpSpPr/>
          <p:nvPr/>
        </p:nvGrpSpPr>
        <p:grpSpPr>
          <a:xfrm>
            <a:off x="-8630" y="9294"/>
            <a:ext cx="12199938" cy="186903"/>
            <a:chOff x="-8630" y="9294"/>
            <a:chExt cx="12199938" cy="186903"/>
          </a:xfrm>
        </p:grpSpPr>
        <p:pic>
          <p:nvPicPr>
            <p:cNvPr id="44" name="Image 39">
              <a:extLst>
                <a:ext uri="{FF2B5EF4-FFF2-40B4-BE49-F238E27FC236}">
                  <a16:creationId xmlns:a16="http://schemas.microsoft.com/office/drawing/2014/main" id="{8109C65B-B08D-F7C2-B817-8A67F074B4C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98"/>
            <a:stretch/>
          </p:blipFill>
          <p:spPr bwMode="auto">
            <a:xfrm rot="16200000" flipH="1">
              <a:off x="3083618" y="-3082954"/>
              <a:ext cx="184760" cy="63692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" name="Image 39">
              <a:extLst>
                <a:ext uri="{FF2B5EF4-FFF2-40B4-BE49-F238E27FC236}">
                  <a16:creationId xmlns:a16="http://schemas.microsoft.com/office/drawing/2014/main" id="{FC836CC2-A901-1D87-5D29-3A15EF4060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98"/>
            <a:stretch/>
          </p:blipFill>
          <p:spPr bwMode="auto">
            <a:xfrm rot="16200000" flipH="1">
              <a:off x="8914300" y="-3080811"/>
              <a:ext cx="184760" cy="636925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45847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1219200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</a:rPr>
              <a:t>✈  AFCAC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09 — Export &amp; Reports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0" y="411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</a:rPr>
              <a:t>Revised Abuja Safety Targets Dashboard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45847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8" name="Text 6"/>
          <p:cNvSpPr/>
          <p:nvPr/>
        </p:nvSpPr>
        <p:spPr>
          <a:xfrm>
            <a:off x="274320" y="651967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9A84C"/>
                </a:solidFill>
              </a:rPr>
              <a:t>AFCAC — Revised Abuja Safety Targets Monitoring and Reporting Dashboard  |  User Manual  |  Page 11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5577840" cy="384048"/>
          </a:xfrm>
          <a:prstGeom prst="rect">
            <a:avLst/>
          </a:prstGeom>
          <a:solidFill>
            <a:srgbClr val="145847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10" name="Text 8"/>
          <p:cNvSpPr/>
          <p:nvPr/>
        </p:nvSpPr>
        <p:spPr>
          <a:xfrm>
            <a:off x="502920" y="138988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📥  Dashboard Exports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783080"/>
            <a:ext cx="5577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From the main dashboard, use the Export Buttons section to download data: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⬇  Download Excel (.xlsx)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Exports the full action plan table with all columns: Country, Target ID, Section, Status, Start, End, Progress, Responsible.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⬇  Download PDF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Generates a formatted PDF snapshot of the current dashboard view including KPIs, status charts, and action table.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325880"/>
            <a:ext cx="5669280" cy="384048"/>
          </a:xfrm>
          <a:prstGeom prst="rect">
            <a:avLst/>
          </a:prstGeom>
          <a:solidFill>
            <a:srgbClr val="145847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13" name="Text 11"/>
          <p:cNvSpPr/>
          <p:nvPr/>
        </p:nvSpPr>
        <p:spPr>
          <a:xfrm>
            <a:off x="6263640" y="138988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 Questionnaire Exports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26480" y="1783080"/>
            <a:ext cx="56692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From the questionnaire form, after completing your answers: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⬇  Export JSON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Downloads a structured JSON file with all answers, scores, comments, state name, and submission timestamp.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⬇  Export CSV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Downloads a CSV file compatible with Excel with columns: Target ID, Title, Group, Score (%), Label, Comments.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✔  Submit to Dashboard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Sends your responses directly to the live dashboard and updates the continental statistics.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4663440"/>
            <a:ext cx="11430000" cy="1417320"/>
          </a:xfrm>
          <a:prstGeom prst="rect">
            <a:avLst/>
          </a:prstGeom>
          <a:solidFill>
            <a:srgbClr val="F5E6C0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16" name="Shape 14"/>
          <p:cNvSpPr/>
          <p:nvPr/>
        </p:nvSpPr>
        <p:spPr>
          <a:xfrm>
            <a:off x="365760" y="4663440"/>
            <a:ext cx="91440" cy="141732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17" name="Text 15"/>
          <p:cNvSpPr/>
          <p:nvPr/>
        </p:nvSpPr>
        <p:spPr>
          <a:xfrm>
            <a:off x="548640" y="472744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2D"/>
                </a:solidFill>
              </a:rPr>
              <a:t>💡  Tips for reporting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5047488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• Export Excel after each quarterly update to keep a local backup of the dashboard state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• The JSON export from questionnaires can be archived as official documentation of each country's self-assessment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• PDF exports capture the dashboard exactly as displayed — switch language before exporting to get reports in your preferred language</a:t>
            </a:r>
            <a:endParaRPr lang="en-US" sz="10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DEE2B2-8119-2177-4D4C-1D5976BDA896}"/>
              </a:ext>
            </a:extLst>
          </p:cNvPr>
          <p:cNvGrpSpPr/>
          <p:nvPr/>
        </p:nvGrpSpPr>
        <p:grpSpPr>
          <a:xfrm>
            <a:off x="-8630" y="9294"/>
            <a:ext cx="12199938" cy="186903"/>
            <a:chOff x="-8630" y="9294"/>
            <a:chExt cx="12199938" cy="186903"/>
          </a:xfrm>
        </p:grpSpPr>
        <p:pic>
          <p:nvPicPr>
            <p:cNvPr id="20" name="Image 39">
              <a:extLst>
                <a:ext uri="{FF2B5EF4-FFF2-40B4-BE49-F238E27FC236}">
                  <a16:creationId xmlns:a16="http://schemas.microsoft.com/office/drawing/2014/main" id="{458EBA9E-A986-86EC-59C2-57A3AB800D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98"/>
            <a:stretch/>
          </p:blipFill>
          <p:spPr bwMode="auto">
            <a:xfrm rot="16200000" flipH="1">
              <a:off x="3083618" y="-3082954"/>
              <a:ext cx="184760" cy="63692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Image 39">
              <a:extLst>
                <a:ext uri="{FF2B5EF4-FFF2-40B4-BE49-F238E27FC236}">
                  <a16:creationId xmlns:a16="http://schemas.microsoft.com/office/drawing/2014/main" id="{F7545980-CF10-E52F-BAFA-3FDA6FC8DE3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98"/>
            <a:stretch/>
          </p:blipFill>
          <p:spPr bwMode="auto">
            <a:xfrm rot="16200000" flipH="1">
              <a:off x="8914300" y="-3080811"/>
              <a:ext cx="184760" cy="636925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45847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1219200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</a:rPr>
              <a:t>✈  AFCAC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10 — Troubleshooting &amp; Support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0" y="411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</a:rPr>
              <a:t>Revised Abuja Safety Targets Dashboard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45847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8" name="Text 6"/>
          <p:cNvSpPr/>
          <p:nvPr/>
        </p:nvSpPr>
        <p:spPr>
          <a:xfrm>
            <a:off x="274320" y="651967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9A84C"/>
                </a:solidFill>
              </a:rPr>
              <a:t>AFCAC — Revised Abuja Safety Targets Monitoring and Reporting Dashboard  |  User Manual  |  Page 12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5577840" cy="1261872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10" name="Shape 8"/>
          <p:cNvSpPr/>
          <p:nvPr/>
        </p:nvSpPr>
        <p:spPr>
          <a:xfrm>
            <a:off x="365760" y="1325880"/>
            <a:ext cx="557784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11" name="Text 9"/>
          <p:cNvSpPr/>
          <p:nvPr/>
        </p:nvSpPr>
        <p:spPr>
          <a:xfrm>
            <a:off x="502920" y="141732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2D"/>
                </a:solidFill>
              </a:rPr>
              <a:t>⚠  Cannot log in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173736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Check your username and password. Passwords are case-sensitive. If the problem persists, contact the AFCAC Safety Unit to reset your credentials.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0" y="1325880"/>
            <a:ext cx="5577840" cy="1261872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14" name="Shape 12"/>
          <p:cNvSpPr/>
          <p:nvPr/>
        </p:nvSpPr>
        <p:spPr>
          <a:xfrm>
            <a:off x="6217920" y="1325880"/>
            <a:ext cx="557784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15" name="Text 13"/>
          <p:cNvSpPr/>
          <p:nvPr/>
        </p:nvSpPr>
        <p:spPr>
          <a:xfrm>
            <a:off x="6355080" y="141732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2D"/>
                </a:solidFill>
              </a:rPr>
              <a:t>⚠  Dashboard shows no data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55080" y="173736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The database connection may be temporarily unavailable. Wait a few seconds and refresh the page (F5). If the problem persists, contact support.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743200"/>
            <a:ext cx="5577840" cy="1261872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18" name="Shape 16"/>
          <p:cNvSpPr/>
          <p:nvPr/>
        </p:nvSpPr>
        <p:spPr>
          <a:xfrm>
            <a:off x="365760" y="2743200"/>
            <a:ext cx="557784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19" name="Text 17"/>
          <p:cNvSpPr/>
          <p:nvPr/>
        </p:nvSpPr>
        <p:spPr>
          <a:xfrm>
            <a:off x="502920" y="283464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2D"/>
                </a:solidFill>
              </a:rPr>
              <a:t>⚠  Language does not switch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315468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Clear your browser cookies and try again. Make sure you click the language button and wait for the page to re-render.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17920" y="2743200"/>
            <a:ext cx="5577840" cy="1261872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22" name="Shape 20"/>
          <p:cNvSpPr/>
          <p:nvPr/>
        </p:nvSpPr>
        <p:spPr>
          <a:xfrm>
            <a:off x="6217920" y="2743200"/>
            <a:ext cx="557784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23" name="Text 21"/>
          <p:cNvSpPr/>
          <p:nvPr/>
        </p:nvSpPr>
        <p:spPr>
          <a:xfrm>
            <a:off x="6355080" y="283464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2D"/>
                </a:solidFill>
              </a:rPr>
              <a:t>⚠  Save changes has no effect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55080" y="315468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Ensure you are connected to the internet. Check that you filled in both "Full Name" and "Country Represented" before saving.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4160520"/>
            <a:ext cx="5577840" cy="1261872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26" name="Shape 24"/>
          <p:cNvSpPr/>
          <p:nvPr/>
        </p:nvSpPr>
        <p:spPr>
          <a:xfrm>
            <a:off x="365760" y="4160520"/>
            <a:ext cx="557784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27" name="Text 25"/>
          <p:cNvSpPr/>
          <p:nvPr/>
        </p:nvSpPr>
        <p:spPr>
          <a:xfrm>
            <a:off x="502920" y="425196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2D"/>
                </a:solidFill>
              </a:rPr>
              <a:t>⚠  Map does not display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457200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Disable browser ad-blockers or try in an incognito window. The map requires JavaScript to be enabled.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17920" y="4160520"/>
            <a:ext cx="5577840" cy="1261872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30" name="Shape 28"/>
          <p:cNvSpPr/>
          <p:nvPr/>
        </p:nvSpPr>
        <p:spPr>
          <a:xfrm>
            <a:off x="6217920" y="4160520"/>
            <a:ext cx="557784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31" name="Text 29"/>
          <p:cNvSpPr/>
          <p:nvPr/>
        </p:nvSpPr>
        <p:spPr>
          <a:xfrm>
            <a:off x="6355080" y="425196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2D"/>
                </a:solidFill>
              </a:rPr>
              <a:t>⚠  Export produces empty file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355080" y="457200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Ensure there is data loaded on the dashboard. Try refreshing the page first, then attempt the export again.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5623560"/>
            <a:ext cx="11430000" cy="594360"/>
          </a:xfrm>
          <a:prstGeom prst="rect">
            <a:avLst/>
          </a:prstGeom>
          <a:solidFill>
            <a:srgbClr val="145847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34" name="Text 32"/>
          <p:cNvSpPr/>
          <p:nvPr/>
        </p:nvSpPr>
        <p:spPr>
          <a:xfrm>
            <a:off x="457200" y="5742432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</a:rPr>
              <a:t>📧  Technical Support  ·  AFCAC Safety Unit  ·  Email: safety@afcac.org  ·  Website: www.afcac.org</a:t>
            </a:r>
            <a:endParaRPr lang="en-US" sz="110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65F06CA-A168-62B4-F51F-A77892DC4FCF}"/>
              </a:ext>
            </a:extLst>
          </p:cNvPr>
          <p:cNvGrpSpPr/>
          <p:nvPr/>
        </p:nvGrpSpPr>
        <p:grpSpPr>
          <a:xfrm>
            <a:off x="-8630" y="9294"/>
            <a:ext cx="12199938" cy="186903"/>
            <a:chOff x="-8630" y="9294"/>
            <a:chExt cx="12199938" cy="186903"/>
          </a:xfrm>
        </p:grpSpPr>
        <p:pic>
          <p:nvPicPr>
            <p:cNvPr id="36" name="Image 39">
              <a:extLst>
                <a:ext uri="{FF2B5EF4-FFF2-40B4-BE49-F238E27FC236}">
                  <a16:creationId xmlns:a16="http://schemas.microsoft.com/office/drawing/2014/main" id="{00018096-F1C4-5B9B-5873-87C1E3B7B7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98"/>
            <a:stretch/>
          </p:blipFill>
          <p:spPr bwMode="auto">
            <a:xfrm rot="16200000" flipH="1">
              <a:off x="3083618" y="-3082954"/>
              <a:ext cx="184760" cy="63692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" name="Image 39">
              <a:extLst>
                <a:ext uri="{FF2B5EF4-FFF2-40B4-BE49-F238E27FC236}">
                  <a16:creationId xmlns:a16="http://schemas.microsoft.com/office/drawing/2014/main" id="{BACC8CD2-3E8F-9476-60E0-823D8E3CBF8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98"/>
            <a:stretch/>
          </p:blipFill>
          <p:spPr bwMode="auto">
            <a:xfrm rot="16200000" flipH="1">
              <a:off x="8914300" y="-3080811"/>
              <a:ext cx="184760" cy="636925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58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3AE41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3" name="Shape 1"/>
          <p:cNvSpPr/>
          <p:nvPr/>
        </p:nvSpPr>
        <p:spPr>
          <a:xfrm>
            <a:off x="0" y="6217920"/>
            <a:ext cx="12192000" cy="640080"/>
          </a:xfrm>
          <a:prstGeom prst="rect">
            <a:avLst/>
          </a:prstGeom>
          <a:solidFill>
            <a:srgbClr val="B3AE41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dirty="0">
                <a:solidFill>
                  <a:srgbClr val="B3AE41"/>
                </a:solidFill>
              </a:rPr>
              <a:t>✈</a:t>
            </a:r>
          </a:p>
        </p:txBody>
      </p:sp>
      <p:sp>
        <p:nvSpPr>
          <p:cNvPr id="5" name="Text 3"/>
          <p:cNvSpPr/>
          <p:nvPr/>
        </p:nvSpPr>
        <p:spPr>
          <a:xfrm>
            <a:off x="2286000" y="10972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B3AE41"/>
                </a:solidFill>
              </a:rPr>
              <a:t>AFCAC</a:t>
            </a:r>
            <a:endParaRPr lang="en-US" sz="4200" dirty="0">
              <a:solidFill>
                <a:srgbClr val="B3AE4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2286000" y="1828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African Civil Aviation Commission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0" y="2240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8888"/>
                </a:solidFill>
              </a:rPr>
              <a:t>Commission Africaine de l'Aviation Civile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0" y="2743200"/>
            <a:ext cx="7315200" cy="4572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029"/>
          </a:p>
        </p:txBody>
      </p:sp>
      <p:sp>
        <p:nvSpPr>
          <p:cNvPr id="9" name="Text 7"/>
          <p:cNvSpPr/>
          <p:nvPr/>
        </p:nvSpPr>
        <p:spPr>
          <a:xfrm>
            <a:off x="2286000" y="29260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Revised Abuja Safety Targets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Monitoring and Reporting Dashboard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</a:rPr>
              <a:t>🌐  https://afcac-dashboard.vercel.app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2910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2D"/>
                </a:solidFill>
              </a:rPr>
              <a:t>Version 1.0  ·  April 2026  ·  © AFCAC Safety Unit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0" y="62910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B3A2D"/>
                </a:solidFill>
              </a:rPr>
              <a:t>For authorized users only</a:t>
            </a:r>
            <a:endParaRPr lang="en-US" sz="9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AD08513-377E-EF62-2A09-419C1408F7F2}"/>
              </a:ext>
            </a:extLst>
          </p:cNvPr>
          <p:cNvGrpSpPr/>
          <p:nvPr/>
        </p:nvGrpSpPr>
        <p:grpSpPr>
          <a:xfrm>
            <a:off x="-8630" y="9294"/>
            <a:ext cx="12199938" cy="186903"/>
            <a:chOff x="-8630" y="9294"/>
            <a:chExt cx="12199938" cy="186903"/>
          </a:xfrm>
        </p:grpSpPr>
        <p:pic>
          <p:nvPicPr>
            <p:cNvPr id="14" name="Image 39">
              <a:extLst>
                <a:ext uri="{FF2B5EF4-FFF2-40B4-BE49-F238E27FC236}">
                  <a16:creationId xmlns:a16="http://schemas.microsoft.com/office/drawing/2014/main" id="{834EE51C-1D78-C58A-2FEA-9D0A994E1D5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98"/>
            <a:stretch/>
          </p:blipFill>
          <p:spPr bwMode="auto">
            <a:xfrm rot="16200000" flipH="1">
              <a:off x="3083618" y="-3082954"/>
              <a:ext cx="184760" cy="63692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Image 39">
              <a:extLst>
                <a:ext uri="{FF2B5EF4-FFF2-40B4-BE49-F238E27FC236}">
                  <a16:creationId xmlns:a16="http://schemas.microsoft.com/office/drawing/2014/main" id="{93FCC32B-1E32-1C10-D229-42A128A6D98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98"/>
            <a:stretch/>
          </p:blipFill>
          <p:spPr bwMode="auto">
            <a:xfrm rot="16200000" flipH="1">
              <a:off x="8914300" y="-3080811"/>
              <a:ext cx="184760" cy="636925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678</TotalTime>
  <Words>2349</Words>
  <Application>Microsoft Office PowerPoint</Application>
  <PresentationFormat>Widescreen</PresentationFormat>
  <Paragraphs>309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Saibatou FALL</cp:lastModifiedBy>
  <cp:revision>8</cp:revision>
  <dcterms:created xsi:type="dcterms:W3CDTF">2026-04-21T21:03:21Z</dcterms:created>
  <dcterms:modified xsi:type="dcterms:W3CDTF">2026-04-26T18:47:00Z</dcterms:modified>
</cp:coreProperties>
</file>